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implemented research system: Webots, not the ROS/Gazebo platform discussed in the early proposal. Frame learning-based superiority as a hypothesis, not an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allocation and navigation cannot be evaluated independently. The dissertation tests five hypotheses covering throughput, delays, utilisation, scalability and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intent from implementation. The contribution is the closed-loop integration and evaluation, not a new RL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real implemented layout. Dock nodes stop other robots treating pickup and delivery points as ordinary corridors.</a:t>
            </a:r>
          </a:p>
          <a:p/>
          <a:p>
            <a:r>
              <a:t>Possible examiner question: Why use both a graph and a grid?</a:t>
            </a:r>
          </a:p>
          <a:p>
            <a:r>
              <a:t>Suggested answer: The graph supports semantic locations and CBS reasoning; the grid captures free-space obstacles and produces executable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interval is a Poisson-process mean. Scenes differ only in active robot count and demand intensity, supporting a controlled scalability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two-layer controller. The Supervisor owns task state and global coordination; each robot owns sensors and wheel commands.</a:t>
            </a:r>
          </a:p>
          <a:p/>
          <a:p>
            <a:r>
              <a:t>Possible examiner question: Can an invalid RL action move a robot?</a:t>
            </a:r>
          </a:p>
          <a:p>
            <a:r>
              <a:t>Suggested answer: No. Action masking, assignment validation, path feasibility and command dispatch all precede commitment; deterministic fallbacks remain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Classify only implemented algorithms. FCFS is the FIFO-equivalent label used by the repository. Round Robin and Random are included in the dataset but omitted from some charts for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both metaheuristics are anytime algorithms constrained by millisecond budgets. The GA individual is a task permutation; crossover is order-based and mutation swaps two positions.</a:t>
            </a:r>
          </a:p>
          <a:p/>
          <a:p>
            <a:r>
              <a:t>Possible examiner question: Why is there no GA/SA convergence graph?</a:t>
            </a:r>
          </a:p>
          <a:p>
            <a:r>
              <a:t>Suggested answer: The code did not persist intermediate optimisation traces. Only final Webots performance and computation latency are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each learning idea to the actual scheduling environment. Training occurs in an abstract factory-grid event environment; frozen checkpoints are then used for Webots inference.</a:t>
            </a:r>
          </a:p>
          <a:p/>
          <a:p>
            <a:r>
              <a:t>Possible examiner question: Why might SARSA be conservative?</a:t>
            </a:r>
          </a:p>
          <a:p>
            <a:r>
              <a:t>Suggested answer: Its update follows the exploratory behaviour policy, so risky exploratory outcomes influence values directly, unlike off-policy Q-learning.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reward shaping as a scheduling objective, not direct wheel control. Collision receives a severe penalty; deadlock has zero reward weight because the runtime treats it as recoverable.</a:t>
            </a:r>
          </a:p>
          <a:p/>
          <a:p>
            <a:r>
              <a:t>Possible examiner question: Why reward completion and valid assignment separately?</a:t>
            </a:r>
          </a:p>
          <a:p>
            <a:r>
              <a:t>Suggested answer: The small dense assignment reward improves credit assignment; the larger completion reward preserves the final operational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compare absolute PPO reward directly with DQN/SARSA because logging and checkpoint configurations differ. Focus on stability and the existence of full-length training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primary measured result. SA leads low and medium density, while Hungarian leads the high-density scene. This evidence does not support blanket RL superiority.</a:t>
            </a:r>
          </a:p>
          <a:p/>
          <a:p>
            <a:r>
              <a:t>Possible examiner question: Are these differences statistically significant?</a:t>
            </a:r>
          </a:p>
          <a:p>
            <a:r>
              <a:t>Suggested answer: Not established. Each algorithm–scene cell has one matched-duration run; repeated recorded seeds are required for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assignment delay from end-to-end completion. PPO allocates tasks quickly, but Hungarian completes more under heavy load; assignment quality must include executable downstream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higher throughput partly reflects more robots, while demand also increases. The correct comparison is algorithm behaviour within each scenario and the trend across scenarios.</a:t>
            </a:r>
          </a:p>
          <a:p/>
          <a:p>
            <a:r>
              <a:t>Possible examiner question: Did better scheduling reduce conflicts?</a:t>
            </a:r>
          </a:p>
          <a:p>
            <a:r>
              <a:t>Suggested answer: The current conflict counters are mostly zero and separation violations are non-zero, so H5 cannot be robustly confirmed from these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heatmap as a multi-objective summary, not a universal ranking. Normalisation is within Scene C, and separation score reverses the recorded violation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the nuanced answer: learning improved one important operational metric—waiting—but the current Webots point estimates favour classical optimisation for throughput. State the exact evidence needed before stronger claims.</a:t>
            </a:r>
          </a:p>
          <a:p/>
          <a:p>
            <a:r>
              <a:t>Possible examiner question: What is the strongest defensible contribution?</a:t>
            </a:r>
          </a:p>
          <a:p>
            <a:r>
              <a:t>Suggested answer: The integrated, safety-filtered comparison framework and its evidence that assignment metrics and completed throughput can diverge after physical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art_factory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81D35"/>
          </a:solidFill>
          <a:ln>
            <a:solidFill>
              <a:srgbClr val="0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566928"/>
            <a:ext cx="50292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0FA6B5"/>
                </a:solidFill>
                <a:latin typeface="Aptos"/>
              </a:defRPr>
            </a:pPr>
            <a:r>
              <a:t>MSC ROBOTICS · DISSERTATION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5303520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AFCFE"/>
                </a:solidFill>
                <a:latin typeface="Aptos"/>
              </a:defRPr>
            </a:pPr>
            <a:r>
              <a:t>Learning-Based Scheduling</a:t>
            </a:r>
          </a:p>
          <a:p>
            <a:pPr algn="l">
              <a:spcAft>
                <a:spcPts val="0"/>
              </a:spcAft>
              <a:defRPr sz="2800" b="1">
                <a:solidFill>
                  <a:srgbClr val="FAFCFE"/>
                </a:solidFill>
                <a:latin typeface="Aptos"/>
              </a:defRPr>
            </a:pPr>
            <a:r>
              <a:t>and Motion Coordination</a:t>
            </a:r>
          </a:p>
          <a:p>
            <a:pPr algn="l">
              <a:spcAft>
                <a:spcPts val="0"/>
              </a:spcAft>
              <a:defRPr sz="2800" b="1">
                <a:solidFill>
                  <a:srgbClr val="FAFCFE"/>
                </a:solidFill>
                <a:latin typeface="Aptos"/>
              </a:defRPr>
            </a:pPr>
            <a:r>
              <a:t>of Mobile Robots in Smart Factories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AE8F0"/>
                </a:solidFill>
                <a:latin typeface="Aptos"/>
              </a:defRPr>
            </a:pPr>
            <a:r>
              <a:t>Evidence from a Webots smart-factory testbed with 3, 5 and 8 mobile robots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15384"/>
            <a:ext cx="4297680" cy="32004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4572000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Wenbin Lin · H00484764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MSc Robotics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Heriot-Watt University Dubai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81344"/>
            <a:ext cx="27432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DAE8F0"/>
                </a:solidFill>
                <a:latin typeface="Aptos"/>
              </a:defRPr>
            </a:pPr>
            <a:r>
              <a:t>Dissertation defence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Why scheduling and motion must be studied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BACKGROUND AND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5577840" cy="4297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92C3D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Dynamic transport requests compete for robots, docks, corridors and charging stations.</a:t>
            </a:r>
          </a:p>
          <a:p>
            <a:pPr>
              <a:spcAft>
                <a:spcPts val="1200"/>
              </a:spcAft>
              <a:defRPr sz="1600">
                <a:solidFill>
                  <a:srgbClr val="192C3D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A short assignment can still create queueing, head-on conflicts or blocked loading points.</a:t>
            </a:r>
          </a:p>
          <a:p>
            <a:pPr>
              <a:spcAft>
                <a:spcPts val="1200"/>
              </a:spcAft>
              <a:defRPr sz="1600">
                <a:solidFill>
                  <a:srgbClr val="192C3D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Higher fleet density increases combinatorial assignment choices and physical interaction.</a:t>
            </a:r>
          </a:p>
          <a:p>
            <a:pPr>
              <a:spcAft>
                <a:spcPts val="1200"/>
              </a:spcAft>
              <a:defRPr sz="1600">
                <a:solidFill>
                  <a:srgbClr val="192C3D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Research question: can learning-based scheduling improve throughput and coordination over classical methods?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261872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261872"/>
            <a:ext cx="64008" cy="1143000"/>
          </a:xfrm>
          <a:prstGeom prst="rect">
            <a:avLst/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9712" y="1426463"/>
            <a:ext cx="44622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874519"/>
            <a:ext cx="446227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Which available robot should serve each transport task?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624328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624328"/>
            <a:ext cx="64008" cy="1143000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2788920"/>
            <a:ext cx="44622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3236976"/>
            <a:ext cx="446227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How can assigned robots share constrained routes safely?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3986784"/>
            <a:ext cx="484632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3986784"/>
            <a:ext cx="64008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4151376"/>
            <a:ext cx="44622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4599432"/>
            <a:ext cx="446227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Does a better assignment remain better after physical execution?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5404104"/>
            <a:ext cx="4846320" cy="585216"/>
          </a:xfrm>
          <a:prstGeom prst="roundRect">
            <a:avLst>
              <a:gd name="adj" fmla="val 8000"/>
            </a:avLst>
          </a:prstGeom>
          <a:solidFill>
            <a:srgbClr val="081D35"/>
          </a:solidFill>
          <a:ln>
            <a:solidFill>
              <a:srgbClr val="081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5559552"/>
            <a:ext cx="44805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AFCFE"/>
                </a:solidFill>
                <a:latin typeface="Aptos"/>
              </a:defRPr>
            </a:pPr>
            <a:r>
              <a:t>Scheduling quality is measured at the factory level.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Objectives and implemented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PROPOSED, IMPLEMENTED AND EXPERIMENTAL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72768"/>
            <a:ext cx="2971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FA6B5"/>
                </a:solidFill>
                <a:latin typeface="Aptos"/>
              </a:defRPr>
            </a:pPr>
            <a:r>
              <a:t>PROPOSED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2907792" cy="7589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Learning-based allocation integrated with multi-robot motion coordination.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132588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572768"/>
            <a:ext cx="2971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148840"/>
            <a:ext cx="2907792" cy="7589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Webots factory · 12 schedulers · grid A* · reservations · DWA · charging · recovery.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325880"/>
            <a:ext cx="3401568" cy="1965960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572768"/>
            <a:ext cx="29718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F766E"/>
                </a:solidFill>
                <a:latin typeface="Aptos"/>
              </a:defRPr>
            </a:pPr>
            <a:r>
              <a:t>EVALUATED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148840"/>
            <a:ext cx="2907792" cy="7589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30-min Scene A/B/C runs plus abstract RL training and validation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22191"/>
            <a:ext cx="10424160" cy="16916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Efficient task allocation under dynamic Poisson demand.</a:t>
            </a:r>
          </a:p>
          <a:p>
            <a:pPr>
              <a:spcAft>
                <a:spcPts val="1200"/>
              </a:spcAft>
              <a:defRPr sz="13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Executable routes with collision avoidance and deadlock recovery.</a:t>
            </a:r>
          </a:p>
          <a:p>
            <a:pPr>
              <a:spcAft>
                <a:spcPts val="1200"/>
              </a:spcAft>
              <a:defRPr sz="13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Fair comparison across rule-based, optimisation, metaheuristic and RL schedulers.</a:t>
            </a:r>
          </a:p>
          <a:p>
            <a:pPr>
              <a:spcAft>
                <a:spcPts val="1200"/>
              </a:spcAft>
              <a:defRPr sz="13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Evidence-led conclusions without assuming RL superiority.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70448"/>
            <a:ext cx="106070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Early ROS/Gazebo intent is future work; Webots is the authoritative implemented platform.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Implemented smart-factory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VERIFIED FROM CONFIG.PY AND SMART_FACTORY.WBT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170432"/>
            <a:ext cx="6766560" cy="498348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444752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413248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522976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44752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554480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5413248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5522976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444752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1554480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5413248"/>
            <a:ext cx="1261872" cy="43891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5522976"/>
            <a:ext cx="126187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AFCFE"/>
                </a:solidFill>
                <a:latin typeface="Aptos"/>
              </a:defRPr>
            </a:pPr>
            <a:r>
              <a:t>WS6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38528" y="2788920"/>
            <a:ext cx="566928" cy="1298448"/>
          </a:xfrm>
          <a:prstGeom prst="roundRect">
            <a:avLst>
              <a:gd name="adj" fmla="val 8000"/>
            </a:avLst>
          </a:prstGeom>
          <a:solidFill>
            <a:srgbClr val="536777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38528" y="2532888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92C3D"/>
                </a:solidFill>
                <a:latin typeface="Aptos"/>
              </a:defRPr>
            </a:pPr>
            <a:r>
              <a:t>S1/S5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7248" y="2788920"/>
            <a:ext cx="566928" cy="1298448"/>
          </a:xfrm>
          <a:prstGeom prst="roundRect">
            <a:avLst>
              <a:gd name="adj" fmla="val 8000"/>
            </a:avLst>
          </a:prstGeom>
          <a:solidFill>
            <a:srgbClr val="536777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2532888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92C3D"/>
                </a:solidFill>
                <a:latin typeface="Aptos"/>
              </a:defRPr>
            </a:pPr>
            <a:r>
              <a:t>S2/S6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2788920"/>
            <a:ext cx="566928" cy="1298448"/>
          </a:xfrm>
          <a:prstGeom prst="roundRect">
            <a:avLst>
              <a:gd name="adj" fmla="val 8000"/>
            </a:avLst>
          </a:prstGeom>
          <a:solidFill>
            <a:srgbClr val="536777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2532888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92C3D"/>
                </a:solidFill>
                <a:latin typeface="Aptos"/>
              </a:defRPr>
            </a:pPr>
            <a:r>
              <a:t>S3/S7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04688" y="2788920"/>
            <a:ext cx="566928" cy="1298448"/>
          </a:xfrm>
          <a:prstGeom prst="roundRect">
            <a:avLst>
              <a:gd name="adj" fmla="val 8000"/>
            </a:avLst>
          </a:prstGeom>
          <a:solidFill>
            <a:srgbClr val="536777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04688" y="2532888"/>
            <a:ext cx="5669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192C3D"/>
                </a:solidFill>
                <a:latin typeface="Aptos"/>
              </a:defRPr>
            </a:pPr>
            <a:r>
              <a:t>S4/S8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16382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53035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AFCFE"/>
                </a:solidFill>
                <a:latin typeface="Aptos"/>
              </a:defRPr>
            </a:pPr>
            <a:r>
              <a:t>CS1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316382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319272"/>
            <a:ext cx="53035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FAFCFE"/>
                </a:solidFill>
                <a:latin typeface="Aptos"/>
              </a:defRPr>
            </a:pPr>
            <a:r>
              <a:t>CS2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2240280"/>
            <a:ext cx="5925312" cy="27432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4526280"/>
            <a:ext cx="5925312" cy="27432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08760" y="1920240"/>
            <a:ext cx="27432" cy="352044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920240"/>
            <a:ext cx="27432" cy="352044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45920" y="246888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45920" y="2496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475488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782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0" y="246888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2496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475488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478231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17320" y="420624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7320" y="42336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416052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18795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66160" y="214884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217627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4572000"/>
            <a:ext cx="329184" cy="228600"/>
          </a:xfrm>
          <a:prstGeom prst="roundRect">
            <a:avLst>
              <a:gd name="adj" fmla="val 8000"/>
            </a:avLst>
          </a:prstGeom>
          <a:solidFill>
            <a:srgbClr val="F5AE26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4599432"/>
            <a:ext cx="329184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600" b="1">
                <a:solidFill>
                  <a:srgbClr val="081D3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35240" y="1207008"/>
            <a:ext cx="3931920" cy="97840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35240" y="1207008"/>
            <a:ext cx="64008" cy="978408"/>
          </a:xfrm>
          <a:prstGeom prst="rect">
            <a:avLst/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45552" y="1371600"/>
            <a:ext cx="35478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Layout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5552" y="1819656"/>
            <a:ext cx="354787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6 workstations · 8 storage docks · 2 charging stations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35240" y="2350008"/>
            <a:ext cx="3931920" cy="97840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35240" y="2350008"/>
            <a:ext cx="64008" cy="978408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45552" y="2514600"/>
            <a:ext cx="35478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Robot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5552" y="2962656"/>
            <a:ext cx="354787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TurtleBot3 Waffle differential drive · max linear speed 0.26 m/s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35240" y="3493008"/>
            <a:ext cx="3931920" cy="97840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35240" y="3493008"/>
            <a:ext cx="64008" cy="97840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45552" y="3657600"/>
            <a:ext cx="35478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Motion network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45552" y="4105656"/>
            <a:ext cx="354787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0.25 m occupancy grid plus corridor/dock graph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35240" y="4636008"/>
            <a:ext cx="3931920" cy="97840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35240" y="4636008"/>
            <a:ext cx="64008" cy="978408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45552" y="4800600"/>
            <a:ext cx="354787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45552" y="5248656"/>
            <a:ext cx="354787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0.30 m goal tolerance · path reservations · local LiDAR/DWA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0" y="582472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36777"/>
                </a:solidFill>
                <a:latin typeface="Aptos"/>
              </a:defRPr>
            </a:pPr>
            <a:r>
              <a:t>Diagram reconstructed from repository coordinates.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Scenes A, B and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SAME FACTORY; INCREASING FLEET DENSITY AND TASK ARRIVAL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26464"/>
            <a:ext cx="5486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CFE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508760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3 robots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899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2588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00784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73936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20824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95728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6888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15768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703320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92C3D"/>
                </a:solidFill>
                <a:latin typeface="Aptos"/>
              </a:defRPr>
            </a:pPr>
            <a:r>
              <a:t>30 s mean interval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142232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FA6B5"/>
                </a:solidFill>
                <a:latin typeface="Aptos"/>
              </a:defRPr>
            </a:pPr>
            <a:r>
              <a:t>≈2 requests/min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718304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First task at t=0; later arrivals sampled exponentially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1261872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53128" y="1261872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1426464"/>
            <a:ext cx="5486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CFE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1508760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5 robots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7375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2064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95544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568696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15583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0488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10527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85432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58584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0547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800600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73752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20640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64024" y="3703320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92C3D"/>
                </a:solidFill>
                <a:latin typeface="Aptos"/>
              </a:defRPr>
            </a:pPr>
            <a:r>
              <a:t>15 s mean interval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4024" y="4142232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≈4 requests/min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4024" y="4718304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First task at t=0; later arrivals sampled exponentially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47888" y="1261872"/>
            <a:ext cx="3401568" cy="43434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47888" y="1261872"/>
            <a:ext cx="3401568" cy="685800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1426464"/>
            <a:ext cx="5486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CFE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5128" y="1508760"/>
            <a:ext cx="2331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8 robots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95360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66851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1540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290304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363456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610344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985248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058400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305288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680192" y="2340864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753344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000232" y="2606040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595360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668512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915400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290304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363456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610344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985248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058400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305288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680192" y="2916936"/>
            <a:ext cx="493776" cy="3017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753344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000232" y="3182112"/>
            <a:ext cx="100584" cy="7315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58784" y="3703320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92C3D"/>
                </a:solidFill>
                <a:latin typeface="Aptos"/>
              </a:defRPr>
            </a:pPr>
            <a:r>
              <a:t>8 s mean interval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58784" y="4142232"/>
            <a:ext cx="274320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EA7020"/>
                </a:solidFill>
                <a:latin typeface="Aptos"/>
              </a:defRPr>
            </a:pPr>
            <a:r>
              <a:t>≈7.5 requests/min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58784" y="4718304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536777"/>
                </a:solidFill>
                <a:latin typeface="Aptos"/>
              </a:defRPr>
            </a:pPr>
            <a:r>
              <a:t>First task at t=0; later arrivals sampled exponentially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5888736"/>
            <a:ext cx="1060704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95B91"/>
                </a:solidFill>
                <a:latin typeface="Aptos"/>
              </a:defRPr>
            </a:pPr>
            <a:r>
              <a:t>Demand composition: storage→workstation 40% · workstation→storage 35% · workstation→workstation 25%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Closed-loop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CENTRAL SCHEDULING WITH DISTRIBUTED SAFE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TASK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GENERATOR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38528" y="2459736"/>
            <a:ext cx="301752" cy="0"/>
          </a:xfrm>
          <a:prstGeom prst="line">
            <a:avLst/>
          </a:prstGeom>
          <a:ln w="25400">
            <a:solidFill>
              <a:srgbClr val="0F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67712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TASK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QUEUE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2459736"/>
            <a:ext cx="301752" cy="0"/>
          </a:xfrm>
          <a:prstGeom prst="line">
            <a:avLst/>
          </a:prstGeom>
          <a:ln w="25400">
            <a:solidFill>
              <a:srgbClr val="19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32504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05656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SCHEDULER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68112" y="2459736"/>
            <a:ext cx="30175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97296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PATH +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RESERVATION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32904" y="2459736"/>
            <a:ext cx="301752" cy="0"/>
          </a:xfrm>
          <a:prstGeom prst="line">
            <a:avLst/>
          </a:prstGeom>
          <a:ln w="254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62088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ROBOT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CONTROLLERS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97696" y="2459736"/>
            <a:ext cx="301752" cy="0"/>
          </a:xfrm>
          <a:prstGeom prst="line">
            <a:avLst/>
          </a:prstGeom>
          <a:ln w="25400">
            <a:solidFill>
              <a:srgbClr val="0F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1828800"/>
            <a:ext cx="1417320" cy="12618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176272"/>
            <a:ext cx="1271016" cy="5029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WEBOTS</a:t>
            </a:r>
          </a:p>
          <a:p>
            <a:pPr algn="ctr">
              <a:spcAft>
                <a:spcPts val="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FACTORY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188720" y="3703320"/>
            <a:ext cx="8869680" cy="0"/>
          </a:xfrm>
          <a:prstGeom prst="line">
            <a:avLst/>
          </a:prstGeom>
          <a:ln w="27940">
            <a:solidFill>
              <a:srgbClr val="0FA6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83280" y="3904487"/>
            <a:ext cx="4572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pose · battery · arrival · braking · replanning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0288"/>
            <a:ext cx="3401568" cy="1078992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590288"/>
            <a:ext cx="64008" cy="1078992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754879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Assignment transaction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02936"/>
            <a:ext cx="30175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Commit only after route and radio dispatch succeed.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62272" y="4590288"/>
            <a:ext cx="3401568" cy="1078992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62272" y="4590288"/>
            <a:ext cx="64008" cy="1078992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4" y="4754879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Motion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2584" y="5202936"/>
            <a:ext cx="30175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Grid A*, lifelong reservations, delay search and recovery.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66176" y="4590288"/>
            <a:ext cx="3401568" cy="1078992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6176" y="4590288"/>
            <a:ext cx="64008" cy="107899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4754879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Local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5202936"/>
            <a:ext cx="3017520" cy="36575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Waypoint tracking, DWA, peer prediction and emergency braking.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Twelve implemented scheduling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TAXONOMY AND EXPECTED SCALING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RULE-BASED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FCFS · Nearest</a:t>
            </a:r>
          </a:p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Round Robin · Greedy · Random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Fast and transparent; local decisions may become myopic.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95B91"/>
                </a:solidFill>
                <a:latin typeface="Aptos"/>
              </a:defRPr>
            </a:pPr>
            <a:r>
              <a:t>O(1)–pairwise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71216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MATHEMATICAL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Hungarian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Global one-to-one minimum-cost matching.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91256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1256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F766E"/>
                </a:solidFill>
                <a:latin typeface="Aptos"/>
              </a:defRPr>
            </a:pPr>
            <a:r>
              <a:t>O(n³)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75504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75504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MARKET-BASED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Auction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Iterative robot bids with prices and time budget.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5544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544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budgeted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9792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METAHEURISTIC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3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GA · 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Anytime global search; quality–latency trade-off.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99831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9831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A7020"/>
                </a:solidFill>
                <a:latin typeface="Aptos"/>
              </a:defRPr>
            </a:pPr>
            <a:r>
              <a:t>budgeted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1261872"/>
            <a:ext cx="2084831" cy="416052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84080" y="1261872"/>
            <a:ext cx="2084831" cy="576072"/>
          </a:xfrm>
          <a:prstGeom prst="roundRect">
            <a:avLst>
              <a:gd name="adj" fmla="val 8000"/>
            </a:avLst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19" y="1435608"/>
            <a:ext cx="1901952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2148840"/>
            <a:ext cx="1755648" cy="8686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SARSA · DQN · PPO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59" y="3429000"/>
            <a:ext cx="1719072" cy="10241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Offline-learned policies; generalisation must be tested.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04119" y="4736592"/>
            <a:ext cx="1444752" cy="34747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4828032"/>
            <a:ext cx="1444752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704EAA"/>
                </a:solidFill>
                <a:latin typeface="Aptos"/>
              </a:defRPr>
            </a:pPr>
            <a:r>
              <a:t>fast 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788152"/>
            <a:ext cx="10561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95B91"/>
                </a:solidFill>
                <a:latin typeface="Aptos"/>
              </a:defRPr>
            </a:pPr>
            <a:r>
              <a:t>All algorithms share feasibility checks; cost-based methods use route, priority, waiting and congestion terms.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Classical and metaheuristic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HOW GLOBAL SEARCH TRADES COMPUTATION FOR ASSIGNMENT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64008" cy="14630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53312"/>
            <a:ext cx="235915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Hungarian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01368"/>
            <a:ext cx="2359152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Build C(i,j) for robot i and task j; solve a global one-to-one minimum-cost matching. Runtime grows cubically with matrix dimension.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2743200" cy="14630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834640"/>
            <a:ext cx="64008" cy="146304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999232"/>
            <a:ext cx="235915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Auction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47288"/>
            <a:ext cx="2359152" cy="7498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Announce tasks → estimate costs → bid using task prices → assign provisional winners until stable or budget expires.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80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480560"/>
            <a:ext cx="64008" cy="1325880"/>
          </a:xfrm>
          <a:prstGeom prst="rect">
            <a:avLst/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645152"/>
            <a:ext cx="235915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Shared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093208"/>
            <a:ext cx="2359152" cy="61264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travel − priority bonus − waiting bonus + congestion 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234440"/>
            <a:ext cx="374903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EA7020"/>
                </a:solidFill>
                <a:latin typeface="Aptos"/>
              </a:defRPr>
            </a:pPr>
            <a:r>
              <a:t>GENETIC ALGORITHM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Seed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population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33672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52544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Rank by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cost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0056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38928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Top 25%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elites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06440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25312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8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Order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crossover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92824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711696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1993392"/>
            <a:ext cx="58521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10% swap</a:t>
            </a:r>
          </a:p>
          <a:p>
            <a:pPr algn="ctr">
              <a:spcAft>
                <a:spcPts val="0"/>
              </a:spcAft>
              <a:defRPr sz="819" b="1">
                <a:solidFill>
                  <a:srgbClr val="192C3D"/>
                </a:solidFill>
                <a:latin typeface="Aptos"/>
              </a:defRPr>
            </a:pPr>
            <a:r>
              <a:t>mutation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7" y="2761488"/>
            <a:ext cx="37033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536777"/>
                </a:solidFill>
                <a:latin typeface="Aptos"/>
              </a:defRPr>
            </a:pPr>
            <a:r>
              <a:t>Runtime defaults: population 48 · ≤50 generations · 10 ms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1234440"/>
            <a:ext cx="374903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EA7020"/>
                </a:solidFill>
                <a:latin typeface="Aptos"/>
              </a:defRPr>
            </a:pPr>
            <a:r>
              <a:t>SIMULATED ANNEALING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07808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44383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Greedy</a:t>
            </a:r>
          </a:p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seed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75320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394192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7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Swap task</a:t>
            </a:r>
          </a:p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positions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61704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180576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17152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Evaluate</a:t>
            </a:r>
          </a:p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ΔE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848088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966960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03536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Accept if better</a:t>
            </a:r>
          </a:p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or p=e−ΔE/T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634472" y="2194560"/>
            <a:ext cx="100584" cy="0"/>
          </a:xfrm>
          <a:prstGeom prst="line">
            <a:avLst/>
          </a:prstGeom>
          <a:ln w="127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753344" y="1737360"/>
            <a:ext cx="658368" cy="91440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19" y="1965960"/>
            <a:ext cx="585216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1">
                <a:solidFill>
                  <a:srgbClr val="192C3D"/>
                </a:solidFill>
                <a:latin typeface="Aptos"/>
              </a:defRPr>
            </a:pPr>
            <a:r>
              <a:t>Cool 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2761488"/>
            <a:ext cx="37033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536777"/>
                </a:solidFill>
                <a:latin typeface="Aptos"/>
              </a:defRPr>
            </a:pPr>
            <a:r>
              <a:t>Runtime defaults: T₀=10 · α=0.985 · ≤2,000 iterations · 5 ms budget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75887" y="3657600"/>
            <a:ext cx="7726679" cy="1417320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0" y="3895344"/>
            <a:ext cx="7223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C64040"/>
                </a:solidFill>
                <a:latin typeface="Aptos"/>
              </a:defRPr>
            </a:pPr>
            <a:r>
              <a:t>Evidence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77639" y="4370832"/>
            <a:ext cx="71323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92C3D"/>
                </a:solidFill>
                <a:latin typeface="Aptos"/>
              </a:defRPr>
            </a:pPr>
            <a:r>
              <a:t>The runtime JSON records final assignments and latency, not generation-by-generation GA fitness or iteration-by-iteration SA cost. No convergence curve is fabricated.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Learning-based 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FIVE CONCEPTS MAPPED TO THE IMPLEMENTED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0FA6B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Fixed robot/task slots; position, state, battery, queue and candidate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0F766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Choose a robot-slot/task-slot pair, plus an explicit no-op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EA70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Completion and valid assignment versus distance, waiting and invalid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7224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5AE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EXPLORATION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ε-greedy for SARSA/DQN; stochastic policy entropy for PPO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11512" y="1243584"/>
            <a:ext cx="2084831" cy="285292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14813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704EA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23576" y="1527048"/>
            <a:ext cx="1389888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176272"/>
            <a:ext cx="1719072" cy="1325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AE8F0"/>
                </a:solidFill>
                <a:latin typeface="Aptos"/>
              </a:defRPr>
            </a:pPr>
            <a:r>
              <a:t>SARSA table · DQN Q-network · PPO policy/value network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2628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526280"/>
            <a:ext cx="64008" cy="1143000"/>
          </a:xfrm>
          <a:prstGeom prst="rect">
            <a:avLst/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69087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SARSA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138928"/>
            <a:ext cx="30175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On-policy TD: updates from the next action actually selected; potentially conservative under exploratory congestion.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52628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526280"/>
            <a:ext cx="64008" cy="1143000"/>
          </a:xfrm>
          <a:prstGeom prst="rect">
            <a:avLst/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2" y="469087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DQN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5138928"/>
            <a:ext cx="30175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Replay buffer, target network and ε-greedy action masking approximate Q-values for discrete assignments.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4526280"/>
            <a:ext cx="3401568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19872" y="4526280"/>
            <a:ext cx="64008" cy="114300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0184" y="469087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PPO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5138928"/>
            <a:ext cx="30175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Policy/value network, GAE and clipped policy updates support a larger fixed observation representation.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Reward design and RL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ACTUAL CHAMPION-TRAINING REWARD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OBSERVE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38528" y="1609344"/>
            <a:ext cx="438912" cy="0"/>
          </a:xfrm>
          <a:prstGeom prst="line">
            <a:avLst/>
          </a:prstGeom>
          <a:ln w="25400">
            <a:solidFill>
              <a:srgbClr val="19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23160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SELECT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39896" y="1609344"/>
            <a:ext cx="43891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24528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ASSIGN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41264" y="1609344"/>
            <a:ext cx="438912" cy="0"/>
          </a:xfrm>
          <a:prstGeom prst="line">
            <a:avLst/>
          </a:prstGeom>
          <a:ln w="25400">
            <a:solidFill>
              <a:srgbClr val="EA7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25896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195B91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25896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ADVANCE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42631" y="1609344"/>
            <a:ext cx="438913" cy="0"/>
          </a:xfrm>
          <a:prstGeom prst="line">
            <a:avLst/>
          </a:prstGeom>
          <a:ln w="25400">
            <a:solidFill>
              <a:srgbClr val="19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27264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REWARD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1609344"/>
            <a:ext cx="438912" cy="0"/>
          </a:xfrm>
          <a:prstGeom prst="line">
            <a:avLst/>
          </a:prstGeom>
          <a:ln w="25400">
            <a:solidFill>
              <a:srgbClr val="704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28632" y="1280160"/>
            <a:ext cx="1298448" cy="65836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28632" y="1481328"/>
            <a:ext cx="1298448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423160"/>
            <a:ext cx="5285232" cy="30449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2679192"/>
            <a:ext cx="479145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92C3D"/>
                </a:solidFill>
                <a:latin typeface="Aptos"/>
              </a:defRPr>
            </a:pPr>
            <a:r>
              <a:t>Champion DQN / SARSA reward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4663440" cy="1417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+12.0  task completion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+0.75  valid assignment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+0.4 × priority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+0.3 × capped task-age bonus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−0.05 × route distance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0F766E"/>
                </a:solidFill>
                <a:latin typeface="Aptos"/>
              </a:defRPr>
            </a:pPr>
            <a:r>
              <a:t>−0.02 × waiting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423160"/>
            <a:ext cx="5285232" cy="3044952"/>
          </a:xfrm>
          <a:prstGeom prst="roundRect">
            <a:avLst>
              <a:gd name="adj" fmla="val 8000"/>
            </a:avLst>
          </a:prstGeom>
          <a:solidFill>
            <a:srgbClr val="EEF4F8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679192"/>
            <a:ext cx="479145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92C3D"/>
                </a:solidFill>
                <a:latin typeface="Aptos"/>
              </a:defRPr>
            </a:pPr>
            <a:r>
              <a:t>Safety and invalid-decision terms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46120"/>
            <a:ext cx="4663440" cy="1417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−5.0  invalid action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−2.0  unnecessary no-op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−100  collision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 0.0  deadlock (handled as recoverable)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</a:p>
          <a:p>
            <a:pPr algn="l">
              <a:spcAft>
                <a:spcPts val="0"/>
              </a:spcAft>
              <a:defRPr sz="1300" b="1">
                <a:solidFill>
                  <a:srgbClr val="C64040"/>
                </a:solidFill>
                <a:latin typeface="Aptos"/>
              </a:defRPr>
            </a:pPr>
            <a:r>
              <a:t>R = positive progress − operational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106527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50" b="0">
                <a:solidFill>
                  <a:srgbClr val="536777"/>
                </a:solidFill>
                <a:latin typeface="Aptos"/>
              </a:defRPr>
            </a:pPr>
            <a:r>
              <a:t>PPO uses the same environment family; checkpoint-specific training history does not store a separate reward-config block.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Reinforcement-learning training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CHAMPION RUNS IN THE ABSTRACT SCHEDULING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l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43000"/>
            <a:ext cx="1106424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4828032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19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020056"/>
            <a:ext cx="7315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95B91"/>
                </a:solidFill>
                <a:latin typeface="Aptos"/>
              </a:defRPr>
            </a:pPr>
            <a:r>
              <a:t>DQN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502005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92C3D"/>
                </a:solidFill>
                <a:latin typeface="Aptos"/>
              </a:defRPr>
            </a:pPr>
            <a:r>
              <a:t>5,000 ep · 868.6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5394960"/>
            <a:ext cx="2999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6777"/>
                </a:solidFill>
                <a:latin typeface="Aptos"/>
              </a:defRPr>
            </a:pPr>
            <a:r>
              <a:t>best val. reward 85.29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4828032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5020056"/>
            <a:ext cx="7315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704EAA"/>
                </a:solidFill>
                <a:latin typeface="Aptos"/>
              </a:defRPr>
            </a:pPr>
            <a:r>
              <a:t>SARSA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502005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92C3D"/>
                </a:solidFill>
                <a:latin typeface="Aptos"/>
              </a:defRPr>
            </a:pPr>
            <a:r>
              <a:t>10,000 ep · 210.4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394960"/>
            <a:ext cx="2999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6777"/>
                </a:solidFill>
                <a:latin typeface="Aptos"/>
              </a:defRPr>
            </a:pPr>
            <a:r>
              <a:t>best val. reward 85.35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4828032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5020056"/>
            <a:ext cx="73152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0FA6B5"/>
                </a:solidFill>
                <a:latin typeface="Aptos"/>
              </a:defRPr>
            </a:pPr>
            <a:r>
              <a:t>PPO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502005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192C3D"/>
                </a:solidFill>
                <a:latin typeface="Aptos"/>
              </a:defRPr>
            </a:pPr>
            <a:r>
              <a:t>5,000 ep · 5,000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5394960"/>
            <a:ext cx="29992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6777"/>
                </a:solidFill>
                <a:latin typeface="Aptos"/>
              </a:defRPr>
            </a:pPr>
            <a:r>
              <a:t>best val. score 60.07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05332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536777"/>
                </a:solidFill>
                <a:latin typeface="Aptos"/>
              </a:defRPr>
            </a:pPr>
            <a:r>
              <a:t>Curves show episode reward and moving average; validation checkpoints were held out from training selection.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Measured scheduling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THIRTY-MINUTE WEBOTS RUNS; ONE RUN PER ALGORITHM–SCENE PAIR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roughput_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97280"/>
            <a:ext cx="11064240" cy="35295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4791456"/>
            <a:ext cx="3401568" cy="102412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956048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Scene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4928616"/>
            <a:ext cx="22860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192C3D"/>
                </a:solidFill>
                <a:latin typeface="Aptos"/>
              </a:defRPr>
            </a:pPr>
            <a:r>
              <a:t>SA: 1.57 tasks/min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376672"/>
            <a:ext cx="30358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36777"/>
                </a:solidFill>
                <a:latin typeface="Aptos"/>
              </a:defRPr>
            </a:pPr>
            <a:r>
              <a:t>highest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4791456"/>
            <a:ext cx="3401568" cy="102412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4956048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Scene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4928616"/>
            <a:ext cx="22860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192C3D"/>
                </a:solidFill>
                <a:latin typeface="Aptos"/>
              </a:defRPr>
            </a:pPr>
            <a:r>
              <a:t>SA: 2.80 tasks/min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5376672"/>
            <a:ext cx="30358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36777"/>
                </a:solidFill>
                <a:latin typeface="Aptos"/>
              </a:defRPr>
            </a:pPr>
            <a:r>
              <a:t>highest measured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4791456"/>
            <a:ext cx="3401568" cy="1024128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4956048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F766E"/>
                </a:solidFill>
                <a:latin typeface="Aptos"/>
              </a:defRPr>
            </a:pPr>
            <a:r>
              <a:t>Scene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4928616"/>
            <a:ext cx="22860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192C3D"/>
                </a:solidFill>
                <a:latin typeface="Aptos"/>
              </a:defRPr>
            </a:pPr>
            <a:r>
              <a:t>Hungarian: 5.20 tasks/min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5376672"/>
            <a:ext cx="303580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536777"/>
                </a:solidFill>
                <a:latin typeface="Aptos"/>
              </a:defRPr>
            </a:pPr>
            <a:r>
              <a:t>highest 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6053328"/>
            <a:ext cx="105613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C64040"/>
                </a:solidFill>
                <a:latin typeface="Aptos"/>
              </a:defRPr>
            </a:pPr>
            <a:r>
              <a:t>No error bars: seeds were not stored and repeated matched runs are unavailable.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High-density Scene C: throughput versus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LEARNING CHANGES THE TRADE-OFF, NOT EVERY METRIC IN THE SAME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ene_c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97280"/>
            <a:ext cx="1106424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4800600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800600"/>
            <a:ext cx="64008" cy="100584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96519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Hungarian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413248"/>
            <a:ext cx="30175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5.20 tasks/min; 172.7 s mean wait — strongest measured completion throughput.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800600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4800600"/>
            <a:ext cx="64008" cy="1005840"/>
          </a:xfrm>
          <a:prstGeom prst="rect">
            <a:avLst/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496519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PPO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5413248"/>
            <a:ext cx="30175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76.1 s mean wait; 2.77 tasks/min — fastest assignment, lower completion throughput.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800600"/>
            <a:ext cx="3401568" cy="1005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4800600"/>
            <a:ext cx="64008" cy="1005840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965192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5413248"/>
            <a:ext cx="30175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Low waiting is insufficient if trips, charging or coordination limit completions before the horizon.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Coordination and scalability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FLEET SIZE 3 → 5 → 8 ROBOTS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7086600" cy="443484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FAF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roughpu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34440"/>
            <a:ext cx="6858000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91272" y="1234440"/>
            <a:ext cx="3584448" cy="10972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91272" y="1234440"/>
            <a:ext cx="64008" cy="10972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01584" y="1399032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Scaling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4" y="1847088"/>
            <a:ext cx="3200400" cy="38404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Hungarian rises to 5.20 tasks/min in Scene C; its global matching benefits from a larger candidate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91272" y="2578608"/>
            <a:ext cx="3584448" cy="10972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91272" y="2578608"/>
            <a:ext cx="64008" cy="1097280"/>
          </a:xfrm>
          <a:prstGeom prst="rect">
            <a:avLst/>
          </a:prstGeom>
          <a:solidFill>
            <a:srgbClr val="704EAA"/>
          </a:solidFill>
          <a:ln>
            <a:solidFill>
              <a:srgbClr val="704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2743200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RL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4" y="3191256"/>
            <a:ext cx="3200400" cy="38404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PPO throughput grows modestly, while DQN and SARSA remain below the best classical methods in Scene 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1272" y="3922776"/>
            <a:ext cx="3584448" cy="10972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91272" y="3922776"/>
            <a:ext cx="64008" cy="1097280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4" y="4087368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Safety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4535424"/>
            <a:ext cx="3200400" cy="384047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Deadlocks are recorded as zero, but pair-distance violations remain non-zero for several runs.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5340096"/>
            <a:ext cx="34747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EA7020"/>
                </a:solidFill>
                <a:latin typeface="Aptos"/>
              </a:defRPr>
            </a:pPr>
            <a:r>
              <a:t>H4 is not supported by the current point estimates.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92C3D"/>
                </a:solidFill>
                <a:latin typeface="Aptos"/>
              </a:defRPr>
            </a:pPr>
            <a:r>
              <a:t>Overall comparison and hypothesis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NORMALISED SCENE C EVIDENCE; 1 MEANS BETTER WITHIN THE MEASURED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ene_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15568"/>
            <a:ext cx="6995160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36408" y="1188720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C6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298448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C64040"/>
                </a:solidFill>
                <a:latin typeface="Aptos"/>
              </a:defRPr>
            </a:pPr>
            <a:r>
              <a:t>H1 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3728" y="1298448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Not supported overall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581912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Classical Hungarian is highest in 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130552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F5AE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240280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F5AE26"/>
                </a:solidFill>
                <a:latin typeface="Aptos"/>
              </a:defRPr>
            </a:pPr>
            <a:r>
              <a:t>H2 Delay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240280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Partially 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523744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PPO has lowest B/C waiting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6408" y="3072384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182112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536777"/>
                </a:solidFill>
                <a:latin typeface="Aptos"/>
              </a:defRPr>
            </a:pPr>
            <a:r>
              <a:t>H3 Utilisation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182112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Inconclusive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465576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Idle metric is near zero and weakly discriminative.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36408" y="4014215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C6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123944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C64040"/>
                </a:solidFill>
                <a:latin typeface="Aptos"/>
              </a:defRPr>
            </a:pPr>
            <a:r>
              <a:t>H4 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4123944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Not supported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407407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RL does not retain the best C throughput.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36408" y="4956048"/>
            <a:ext cx="3639312" cy="768096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536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5065776"/>
            <a:ext cx="1234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536777"/>
                </a:solidFill>
                <a:latin typeface="Aptos"/>
              </a:defRPr>
            </a:pPr>
            <a:r>
              <a:t>H5 Congestion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5065776"/>
            <a:ext cx="202996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950" b="1">
                <a:solidFill>
                  <a:srgbClr val="192C3D"/>
                </a:solidFill>
                <a:latin typeface="Aptos"/>
              </a:defRPr>
            </a:pPr>
            <a:r>
              <a:t>Inconclusive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5349240"/>
            <a:ext cx="3090672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19" b="0">
                <a:solidFill>
                  <a:srgbClr val="536777"/>
                </a:solidFill>
                <a:latin typeface="Aptos"/>
              </a:defRPr>
            </a:pPr>
            <a:r>
              <a:t>Conflict logging lacks variation; separation violations persist.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980176"/>
            <a:ext cx="349300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780" b="0">
                <a:solidFill>
                  <a:srgbClr val="536777"/>
                </a:solidFill>
                <a:latin typeface="Aptos"/>
              </a:defRPr>
            </a:pPr>
            <a:r>
              <a:t>Completion/wait/distance/latency: lower is better.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536777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265176"/>
            <a:ext cx="106984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AFCFE"/>
                </a:solidFill>
                <a:latin typeface="Aptos"/>
              </a:defRPr>
            </a:pPr>
            <a:r>
              <a:t>Conclusions, 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98755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0FA6B5"/>
                </a:solidFill>
                <a:latin typeface="Aptos"/>
              </a:defRPr>
            </a:pPr>
            <a:r>
              <a:t>EVIDENCE-BASED ANSWER TO 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0FA6B5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69264"/>
            <a:ext cx="10972800" cy="2286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715000" cy="3063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The project delivers a verified closed loop from dynamic task generation to safe Webots execution.</a:t>
            </a:r>
          </a:p>
          <a:p>
            <a:pPr>
              <a:spcAft>
                <a:spcPts val="1200"/>
              </a:spcAft>
              <a:defRPr sz="135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SA achieved the highest measured throughput in Scenes A/B; Hungarian led Scene C.</a:t>
            </a:r>
          </a:p>
          <a:p>
            <a:pPr>
              <a:spcAft>
                <a:spcPts val="1200"/>
              </a:spcAft>
              <a:defRPr sz="135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PPO reduced measured waiting time in B/C, but did not maximise completed-task throughput.</a:t>
            </a:r>
          </a:p>
          <a:p>
            <a:pPr>
              <a:spcAft>
                <a:spcPts val="1200"/>
              </a:spcAft>
              <a:defRPr sz="135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0FA6B5"/>
                </a:solidFill>
              </a:rPr>
              <a:t>●  Scheduling affects downstream coordination, yet the present logs do not prove RL scalability or conflict reduction.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23444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234440"/>
            <a:ext cx="64008" cy="1143000"/>
          </a:xfrm>
          <a:prstGeom prst="rect">
            <a:avLst/>
          </a:prstGeom>
          <a:solidFill>
            <a:srgbClr val="EA7020"/>
          </a:solidFill>
          <a:ln>
            <a:solidFill>
              <a:srgbClr val="EA7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399032"/>
            <a:ext cx="437083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Primary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847088"/>
            <a:ext cx="437083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One run per algorithm–scene cell; seed metadata absent; no GA/SA intermediate traces.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15184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615184"/>
            <a:ext cx="64008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779776"/>
            <a:ext cx="437083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Next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227832"/>
            <a:ext cx="437083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≥5 recorded seeds; confidence intervals; consistent safety counters; ablation of reward and coordination layers.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995928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>
            <a:solidFill>
              <a:srgbClr val="DA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3995928"/>
            <a:ext cx="64008" cy="1143000"/>
          </a:xfrm>
          <a:prstGeom prst="rect">
            <a:avLst/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4160520"/>
            <a:ext cx="437083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C3D"/>
                </a:solidFill>
                <a:latin typeface="Aptos"/>
              </a:defRPr>
            </a:pPr>
            <a:r>
              <a:t>Future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4608576"/>
            <a:ext cx="4370832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536777"/>
                </a:solidFill>
                <a:latin typeface="Aptos"/>
              </a:defRPr>
            </a:pPr>
            <a:r>
              <a:t>Heterogeneous robots, charging-aware allocation, MARL/GNN policies and ROS 2 hardware validation.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83480"/>
            <a:ext cx="5715000" cy="667512"/>
          </a:xfrm>
          <a:prstGeom prst="roundRect">
            <a:avLst>
              <a:gd name="adj" fmla="val 8000"/>
            </a:avLst>
          </a:prstGeom>
          <a:solidFill>
            <a:srgbClr val="0FA6B5"/>
          </a:solidFill>
          <a:ln>
            <a:solidFill>
              <a:srgbClr val="0FA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75504"/>
            <a:ext cx="5468112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81D35"/>
                </a:solidFill>
                <a:latin typeface="Aptos"/>
              </a:defRPr>
            </a:pPr>
            <a:r>
              <a:t>Thank you ·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1060704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DAE8F0"/>
                </a:solidFill>
                <a:latin typeface="Aptos"/>
              </a:defRPr>
            </a:pPr>
            <a:r>
              <a:t>Key references: Kuhn (1955); Kirkpatrick et al. (1983); Mnih et al. (2015); Schulman et al. (2017); Sutton &amp; Barto (2018).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66751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Wenbin Lin · MSc Robotics · Heriot-Watt University Dubai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510528"/>
            <a:ext cx="82296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DAE8F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