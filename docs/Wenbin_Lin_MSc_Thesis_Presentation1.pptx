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research topic, student identity, and the central claim: scheduling decisions and robot motion must be designed as one coordinated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the hybrid-system contribution, explicitly distinguish completed evidence from planned RL evaluation,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art_factory_hero.pn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8182B"/>
          </a:solidFill>
          <a:ln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4709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ABECD"/>
                </a:solidFill>
                <a:latin typeface="Aptos"/>
              </a:defRPr>
            </a:pPr>
            <a:r>
              <a:t>MSC ROBOTICS · THESIS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4892040" cy="1828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2900" b="1">
                <a:solidFill>
                  <a:srgbClr val="FAFCFE"/>
                </a:solidFill>
                <a:latin typeface="Aptos"/>
              </a:defRPr>
            </a:pPr>
            <a:r>
              <a:t>Learning-Based Scheduling</a:t>
            </a:r>
          </a:p>
          <a:p>
            <a:pPr algn="l">
              <a:spcAft>
                <a:spcPts val="300"/>
              </a:spcAft>
              <a:defRPr sz="2900" b="1">
                <a:solidFill>
                  <a:srgbClr val="FAFCFE"/>
                </a:solidFill>
                <a:latin typeface="Aptos"/>
              </a:defRPr>
            </a:pPr>
            <a:r>
              <a:t>and Motion Coordination</a:t>
            </a:r>
          </a:p>
          <a:p>
            <a:pPr algn="l">
              <a:spcAft>
                <a:spcPts val="300"/>
              </a:spcAft>
              <a:defRPr sz="2900" b="1">
                <a:solidFill>
                  <a:srgbClr val="FAFCFE"/>
                </a:solidFill>
                <a:latin typeface="Aptos"/>
              </a:defRPr>
            </a:pPr>
            <a:r>
              <a:t>of Mobile Robots in Smart Factories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310128"/>
            <a:ext cx="43891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E0EEF4"/>
                </a:solidFill>
                <a:latin typeface="Aptos"/>
              </a:defRPr>
            </a:pPr>
            <a:r>
              <a:t>A simulation-based study of task allocation, coordinated routing and safe multi-robot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4261104"/>
            <a:ext cx="4160520" cy="27432"/>
          </a:xfrm>
          <a:prstGeom prst="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498848"/>
            <a:ext cx="42976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Wenbin Lin  |  H00484764</a:t>
            </a:r>
          </a:p>
          <a:p>
            <a:pPr algn="l">
              <a:spcAft>
                <a:spcPts val="30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MSc Robotics</a:t>
            </a:r>
          </a:p>
          <a:p>
            <a:pPr algn="l">
              <a:spcAft>
                <a:spcPts val="300"/>
              </a:spcAft>
              <a:defRPr sz="1300" b="1">
                <a:solidFill>
                  <a:srgbClr val="FAFCFE"/>
                </a:solidFill>
                <a:latin typeface="Aptos"/>
              </a:defRPr>
            </a:pPr>
            <a:r>
              <a:t>Heriot-Watt University Dubai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172200"/>
            <a:ext cx="3108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E0EEF4"/>
                </a:solidFill>
                <a:latin typeface="Aptos"/>
              </a:defRPr>
            </a:pPr>
            <a:r>
              <a:t>Graduate Research Presentation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ABE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B2A38"/>
                </a:solidFill>
                <a:latin typeface="Aptos"/>
              </a:defRPr>
            </a:pPr>
            <a:r>
              <a:t>Why multi-robot scheduling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BACKGROUND AND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41248"/>
            <a:ext cx="11109960" cy="22860"/>
          </a:xfrm>
          <a:prstGeom prst="rect">
            <a:avLst/>
          </a:prstGeom>
          <a:solidFill>
            <a:srgbClr val="1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mart_factory_hero.png"/>
          <p:cNvPicPr>
            <a:picLocks noChangeAspect="1"/>
          </p:cNvPicPr>
          <p:nvPr/>
        </p:nvPicPr>
        <p:blipFill>
          <a:blip r:embed="rId2"/>
          <a:srcRect l="23667" r="23667"/>
          <a:stretch>
            <a:fillRect/>
          </a:stretch>
        </p:blipFill>
        <p:spPr>
          <a:xfrm>
            <a:off x="6995160" y="1097280"/>
            <a:ext cx="4663440" cy="4983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1234440"/>
            <a:ext cx="5715000" cy="406908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B2A38"/>
                </a:solidFill>
                <a:latin typeface="Aptos"/>
              </a:defRPr>
            </a:pPr>
            <a:r>
              <a:rPr>
                <a:solidFill>
                  <a:srgbClr val="1ABECD"/>
                </a:solidFill>
              </a:rPr>
              <a:t>●  Flexible factories replace fixed conveyors with mobile robot fleets.</a:t>
            </a:r>
          </a:p>
          <a:p>
            <a:pPr>
              <a:spcAft>
                <a:spcPts val="1100"/>
              </a:spcAft>
              <a:defRPr sz="1700">
                <a:solidFill>
                  <a:srgbClr val="1B2A38"/>
                </a:solidFill>
                <a:latin typeface="Aptos"/>
              </a:defRPr>
            </a:pPr>
            <a:r>
              <a:rPr>
                <a:solidFill>
                  <a:srgbClr val="1ABECD"/>
                </a:solidFill>
              </a:rPr>
              <a:t>●  Dynamic transport requests compete for robots, corridors, docks and charging resources.</a:t>
            </a:r>
          </a:p>
          <a:p>
            <a:pPr>
              <a:spcAft>
                <a:spcPts val="1100"/>
              </a:spcAft>
              <a:defRPr sz="1700">
                <a:solidFill>
                  <a:srgbClr val="1B2A38"/>
                </a:solidFill>
                <a:latin typeface="Aptos"/>
              </a:defRPr>
            </a:pPr>
            <a:r>
              <a:rPr>
                <a:solidFill>
                  <a:srgbClr val="1ABECD"/>
                </a:solidFill>
              </a:rPr>
              <a:t>●  A locally efficient assignment may create global congestion or unsafe encounters.</a:t>
            </a:r>
          </a:p>
          <a:p>
            <a:pPr>
              <a:spcAft>
                <a:spcPts val="1100"/>
              </a:spcAft>
              <a:defRPr sz="1700">
                <a:solidFill>
                  <a:srgbClr val="1B2A38"/>
                </a:solidFill>
                <a:latin typeface="Aptos"/>
              </a:defRPr>
            </a:pPr>
            <a:r>
              <a:rPr>
                <a:solidFill>
                  <a:srgbClr val="1ABECD"/>
                </a:solidFill>
              </a:rPr>
              <a:t>●  The research challenge is to improve throughput without separating scheduling from physical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57800"/>
            <a:ext cx="5394960" cy="658368"/>
          </a:xfrm>
          <a:prstGeom prst="roundRect">
            <a:avLst/>
          </a:prstGeom>
          <a:solidFill>
            <a:srgbClr val="08182B"/>
          </a:solidFill>
          <a:ln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413248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FAFCFE"/>
                </a:solidFill>
                <a:latin typeface="Aptos"/>
              </a:defRPr>
            </a:pPr>
            <a:r>
              <a:t>Core idea  ·  allocate intelligently, route safely, execute synchronously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5C6F7E"/>
                </a:solidFill>
                <a:latin typeface="Aptos"/>
              </a:defRPr>
            </a:pPr>
            <a:r>
              <a:t>Wenbin Lin  ·  MSc Robotics  ·  Heriot-Watt University Dubai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ABE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FAFCFE"/>
                </a:solidFill>
                <a:latin typeface="Aptos"/>
              </a:defRPr>
            </a:pPr>
            <a:r>
              <a:t>Research question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>
                <a:solidFill>
                  <a:srgbClr val="E0EEF4"/>
                </a:solidFill>
                <a:latin typeface="Aptos"/>
              </a:defRPr>
            </a:pPr>
            <a:r>
              <a:t>FROM ALLOCATION TO COORDINATED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41248"/>
            <a:ext cx="11109960" cy="22860"/>
          </a:xfrm>
          <a:prstGeom prst="rect">
            <a:avLst/>
          </a:prstGeom>
          <a:solidFill>
            <a:srgbClr val="1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25296"/>
            <a:ext cx="1069848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FAFCFE"/>
                </a:solidFill>
                <a:latin typeface="Aptos"/>
              </a:defRPr>
            </a:pPr>
            <a:r>
              <a:t>How can learning-based scheduling improve factory productivity and robot coordination compared with rule-based approaches?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2423160"/>
            <a:ext cx="2487168" cy="2423160"/>
          </a:xfrm>
          <a:prstGeom prst="roundRect">
            <a:avLst/>
          </a:prstGeom>
          <a:solidFill>
            <a:srgbClr val="144A6F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615184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ABE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090672"/>
            <a:ext cx="2057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FAFCFE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703320"/>
            <a:ext cx="20574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E0EEF4"/>
                </a:solidFill>
                <a:latin typeface="Aptos"/>
              </a:defRPr>
            </a:pPr>
            <a:r>
              <a:t>Build a reproducible smart-factory simulator with dynamic transport demand.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423160"/>
            <a:ext cx="2487168" cy="2423160"/>
          </a:xfrm>
          <a:prstGeom prst="roundRect">
            <a:avLst/>
          </a:prstGeom>
          <a:solidFill>
            <a:srgbClr val="144A6F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615184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ABE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90672"/>
            <a:ext cx="2057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FAFCFE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703320"/>
            <a:ext cx="20574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E0EEF4"/>
                </a:solidFill>
                <a:latin typeface="Aptos"/>
              </a:defRPr>
            </a:pPr>
            <a:r>
              <a:t>Implement rule-based, optimisation, metaheuristic and reinforcement-learning schedulers.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3368" y="2423160"/>
            <a:ext cx="2487168" cy="2423160"/>
          </a:xfrm>
          <a:prstGeom prst="roundRect">
            <a:avLst/>
          </a:prstGeom>
          <a:solidFill>
            <a:srgbClr val="144A6F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615184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ABE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3090672"/>
            <a:ext cx="2057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FAFCFE"/>
                </a:solidFill>
                <a:latin typeface="Aptos"/>
              </a:defRPr>
            </a:pPr>
            <a:r>
              <a:t>Coordinate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3703320"/>
            <a:ext cx="20574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E0EEF4"/>
                </a:solidFill>
                <a:latin typeface="Aptos"/>
              </a:defRPr>
            </a:pPr>
            <a:r>
              <a:t>Integrate assignment with grid routing, reservations, local avoidance and recovery.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26296" y="2423160"/>
            <a:ext cx="2487168" cy="2423160"/>
          </a:xfrm>
          <a:prstGeom prst="roundRect">
            <a:avLst/>
          </a:prstGeom>
          <a:solidFill>
            <a:srgbClr val="144A6F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2615184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ABE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3090672"/>
            <a:ext cx="20574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FAFCFE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3703320"/>
            <a:ext cx="20574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E0EEF4"/>
                </a:solidFill>
                <a:latin typeface="Aptos"/>
              </a:defRPr>
            </a:pPr>
            <a:r>
              <a:t>Compare throughput, waiting time, decision latency, safety and workload balance.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21808"/>
            <a:ext cx="105156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F49A37"/>
                </a:solidFill>
                <a:latin typeface="Aptos"/>
              </a:defRPr>
            </a:pPr>
            <a:r>
              <a:t>Scope decision: Webots is the implemented validation platform; ROS 2 / Gazebo is positioned as a future portability and sim-to-real extension.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E0EEF4"/>
                </a:solidFill>
                <a:latin typeface="Aptos"/>
              </a:defRPr>
            </a:pPr>
            <a:r>
              <a:t>Wenbin Lin  ·  MSc Robotics  ·  Heriot-Watt University Dubai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E0EEF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ABE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B2A38"/>
                </a:solidFill>
                <a:latin typeface="Aptos"/>
              </a:defRPr>
            </a:pPr>
            <a:r>
              <a:t>Experimental scenarios A / B /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INCREASING FLEET SIZE AND DEMAND INTENSITY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41248"/>
            <a:ext cx="11109960" cy="22860"/>
          </a:xfrm>
          <a:prstGeom prst="rect">
            <a:avLst/>
          </a:prstGeom>
          <a:solidFill>
            <a:srgbClr val="1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3401568" cy="4343400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3401568" cy="713232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435608"/>
            <a:ext cx="594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FAFCFE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27048"/>
            <a:ext cx="2331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FAFCFE"/>
                </a:solidFill>
                <a:latin typeface="Aptos"/>
              </a:defRPr>
            </a:pPr>
            <a:r>
              <a:t>Small fleet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2404872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4984" y="2688336"/>
            <a:ext cx="109728" cy="91440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1016" y="2688336"/>
            <a:ext cx="109728" cy="91440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36776" y="2404872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09928" y="2688336"/>
            <a:ext cx="109728" cy="91440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65960" y="2688336"/>
            <a:ext cx="109728" cy="91440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2404872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04872" y="2688336"/>
            <a:ext cx="109728" cy="91440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60903" y="2688336"/>
            <a:ext cx="109728" cy="91440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28346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B2A38"/>
                </a:solidFill>
                <a:latin typeface="Aptos"/>
              </a:defRPr>
            </a:pPr>
            <a:r>
              <a:t>3 robots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78808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5C6F7E"/>
                </a:solidFill>
                <a:latin typeface="Aptos"/>
              </a:defRPr>
            </a:pPr>
            <a:r>
              <a:t>Mean arrival: 30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4515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ABECD"/>
                </a:solidFill>
                <a:latin typeface="Aptos"/>
              </a:defRPr>
            </a:pPr>
            <a:r>
              <a:t>≈ 2 tasks/min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84064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5C6F7E"/>
                </a:solidFill>
                <a:latin typeface="Aptos"/>
              </a:defRPr>
            </a:pPr>
            <a:r>
              <a:t>Poisson arrivals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1325880"/>
            <a:ext cx="3401568" cy="4343400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80559" y="1325880"/>
            <a:ext cx="3401568" cy="713232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7" y="1435608"/>
            <a:ext cx="594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FAFCFE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1" y="1527048"/>
            <a:ext cx="2331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FAFCFE"/>
                </a:solidFill>
                <a:latin typeface="Aptos"/>
              </a:defRPr>
            </a:pPr>
            <a:r>
              <a:t>Medium fleet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64023" y="2404872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837175" y="2688336"/>
            <a:ext cx="109728" cy="91440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93207" y="2688336"/>
            <a:ext cx="109728" cy="91440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58967" y="2404872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532119" y="2688336"/>
            <a:ext cx="109728" cy="91440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788151" y="2688336"/>
            <a:ext cx="109728" cy="91440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53911" y="2404872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27063" y="2688336"/>
            <a:ext cx="109728" cy="91440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83095" y="2688336"/>
            <a:ext cx="109728" cy="91440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848855" y="2404872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922007" y="2688336"/>
            <a:ext cx="109728" cy="91440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178040" y="2688336"/>
            <a:ext cx="109728" cy="91440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764023" y="2971800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37175" y="3255264"/>
            <a:ext cx="109728" cy="91440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93207" y="3255264"/>
            <a:ext cx="109728" cy="91440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3703320"/>
            <a:ext cx="28346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B2A38"/>
                </a:solidFill>
                <a:latin typeface="Aptos"/>
              </a:defRPr>
            </a:pPr>
            <a:r>
              <a:t>5 robots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36592" y="4178808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5C6F7E"/>
                </a:solidFill>
                <a:latin typeface="Aptos"/>
              </a:defRPr>
            </a:pPr>
            <a:r>
              <a:t>Mean arrival: 15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36592" y="464515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39297"/>
                </a:solidFill>
                <a:latin typeface="Aptos"/>
              </a:defRPr>
            </a:pPr>
            <a:r>
              <a:t>≈ 4 tasks/min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36592" y="5084064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5C6F7E"/>
                </a:solidFill>
                <a:latin typeface="Aptos"/>
              </a:defRPr>
            </a:pPr>
            <a:r>
              <a:t>Poisson arrivals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02752" y="1325880"/>
            <a:ext cx="3401568" cy="4343400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02752" y="1325880"/>
            <a:ext cx="3401568" cy="713232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1435608"/>
            <a:ext cx="594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FAFCFE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07424" y="1527048"/>
            <a:ext cx="2331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FAFCFE"/>
                </a:solidFill>
                <a:latin typeface="Aptos"/>
              </a:defRPr>
            </a:pPr>
            <a:r>
              <a:t>Large fleet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86216" y="2404872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659368" y="2688336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15400" y="2688336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281160" y="2404872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354312" y="2688336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610344" y="2688336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76104" y="2404872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049256" y="2688336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305288" y="2688336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671048" y="2404872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744200" y="2688336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1000232" y="2688336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586216" y="2971800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659368" y="3255264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915400" y="3255264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281160" y="2971800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354312" y="3255264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610344" y="3255264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976104" y="2971800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049256" y="3255264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305288" y="3255264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671048" y="2971800"/>
            <a:ext cx="512064" cy="347472"/>
          </a:xfrm>
          <a:prstGeom prst="roundRect">
            <a:avLst/>
          </a:prstGeom>
          <a:solidFill>
            <a:srgbClr val="E0EEF4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744200" y="3255264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1000232" y="3255264"/>
            <a:ext cx="109728" cy="9144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58784" y="3703320"/>
            <a:ext cx="28346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B2A38"/>
                </a:solidFill>
                <a:latin typeface="Aptos"/>
              </a:defRPr>
            </a:pPr>
            <a:r>
              <a:t>8 robots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58784" y="4178808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5C6F7E"/>
                </a:solidFill>
                <a:latin typeface="Aptos"/>
              </a:defRPr>
            </a:pPr>
            <a:r>
              <a:t>Mean arrival: 8 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58784" y="464515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F49A37"/>
                </a:solidFill>
                <a:latin typeface="Aptos"/>
              </a:defRPr>
            </a:pPr>
            <a:r>
              <a:t>≈ 7.5 tasks/min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58784" y="5084064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5C6F7E"/>
                </a:solidFill>
                <a:latin typeface="Aptos"/>
              </a:defRPr>
            </a:pPr>
            <a:r>
              <a:t>Poisson arrivals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5C6F7E"/>
                </a:solidFill>
                <a:latin typeface="Aptos"/>
              </a:defRPr>
            </a:pPr>
            <a:r>
              <a:t>Wenbin Lin  ·  MSc Robotics  ·  Heriot-Watt University Dubai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ABE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B2A38"/>
                </a:solidFill>
                <a:latin typeface="Aptos"/>
              </a:defRPr>
            </a:pPr>
            <a:r>
              <a:t>Factory, robots and transport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WHAT THE SIMULATOR REPRESENTS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41248"/>
            <a:ext cx="11109960" cy="22860"/>
          </a:xfrm>
          <a:prstGeom prst="rect">
            <a:avLst/>
          </a:prstGeom>
          <a:solidFill>
            <a:srgbClr val="1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143000"/>
            <a:ext cx="6492240" cy="5074920"/>
          </a:xfrm>
          <a:prstGeom prst="roundRect">
            <a:avLst/>
          </a:prstGeom>
          <a:solidFill>
            <a:srgbClr val="EDF4F8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307592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44A6F"/>
                </a:solidFill>
                <a:latin typeface="Aptos"/>
              </a:defRPr>
            </a:pPr>
            <a:r>
              <a:t>FACTORY FLOOR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691640"/>
            <a:ext cx="1325880" cy="475488"/>
          </a:xfrm>
          <a:prstGeom prst="roundRect">
            <a:avLst/>
          </a:prstGeom>
          <a:solidFill>
            <a:srgbClr val="144A6F"/>
          </a:solidFill>
          <a:ln>
            <a:solidFill>
              <a:srgbClr val="14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92224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WS1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5129784"/>
            <a:ext cx="1325880" cy="475488"/>
          </a:xfrm>
          <a:prstGeom prst="roundRect">
            <a:avLst/>
          </a:prstGeom>
          <a:solidFill>
            <a:srgbClr val="144A6F"/>
          </a:solidFill>
          <a:ln>
            <a:solidFill>
              <a:srgbClr val="14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230368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WS4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1691640"/>
            <a:ext cx="1325880" cy="475488"/>
          </a:xfrm>
          <a:prstGeom prst="roundRect">
            <a:avLst/>
          </a:prstGeom>
          <a:solidFill>
            <a:srgbClr val="144A6F"/>
          </a:solidFill>
          <a:ln>
            <a:solidFill>
              <a:srgbClr val="14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792224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WS2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792" y="5129784"/>
            <a:ext cx="1325880" cy="475488"/>
          </a:xfrm>
          <a:prstGeom prst="roundRect">
            <a:avLst/>
          </a:prstGeom>
          <a:solidFill>
            <a:srgbClr val="144A6F"/>
          </a:solidFill>
          <a:ln>
            <a:solidFill>
              <a:srgbClr val="14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5230368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WS5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4" y="1691640"/>
            <a:ext cx="1325880" cy="475488"/>
          </a:xfrm>
          <a:prstGeom prst="roundRect">
            <a:avLst/>
          </a:prstGeom>
          <a:solidFill>
            <a:srgbClr val="144A6F"/>
          </a:solidFill>
          <a:ln>
            <a:solidFill>
              <a:srgbClr val="14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4024" y="1792224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WS3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64024" y="5129784"/>
            <a:ext cx="1325880" cy="475488"/>
          </a:xfrm>
          <a:prstGeom prst="roundRect">
            <a:avLst/>
          </a:prstGeom>
          <a:solidFill>
            <a:srgbClr val="144A6F"/>
          </a:solidFill>
          <a:ln>
            <a:solidFill>
              <a:srgbClr val="14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4024" y="5230368"/>
            <a:ext cx="1325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AFCFE"/>
                </a:solidFill>
                <a:latin typeface="Aptos"/>
              </a:defRPr>
            </a:pPr>
            <a:r>
              <a:t>WS6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2834640"/>
            <a:ext cx="658368" cy="1234440"/>
          </a:xfrm>
          <a:prstGeom prst="roundRect">
            <a:avLst/>
          </a:prstGeom>
          <a:solidFill>
            <a:srgbClr val="5C6F7E"/>
          </a:solidFill>
          <a:ln>
            <a:solidFill>
              <a:srgbClr val="5C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2532888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B2A38"/>
                </a:solidFill>
                <a:latin typeface="Aptos"/>
              </a:defRPr>
            </a:pPr>
            <a:r>
              <a:t>S1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14800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B2A38"/>
                </a:solidFill>
                <a:latin typeface="Aptos"/>
              </a:defRPr>
            </a:pPr>
            <a:r>
              <a:t>S5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2834640"/>
            <a:ext cx="658368" cy="1234440"/>
          </a:xfrm>
          <a:prstGeom prst="roundRect">
            <a:avLst/>
          </a:prstGeom>
          <a:solidFill>
            <a:srgbClr val="5C6F7E"/>
          </a:solidFill>
          <a:ln>
            <a:solidFill>
              <a:srgbClr val="5C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2532888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B2A38"/>
                </a:solidFill>
                <a:latin typeface="Aptos"/>
              </a:defRPr>
            </a:pPr>
            <a:r>
              <a:t>S2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114800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B2A38"/>
                </a:solidFill>
                <a:latin typeface="Aptos"/>
              </a:defRPr>
            </a:pPr>
            <a:r>
              <a:t>S6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2834640"/>
            <a:ext cx="658368" cy="1234440"/>
          </a:xfrm>
          <a:prstGeom prst="roundRect">
            <a:avLst/>
          </a:prstGeom>
          <a:solidFill>
            <a:srgbClr val="5C6F7E"/>
          </a:solidFill>
          <a:ln>
            <a:solidFill>
              <a:srgbClr val="5C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2532888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B2A38"/>
                </a:solidFill>
                <a:latin typeface="Aptos"/>
              </a:defRPr>
            </a:pPr>
            <a:r>
              <a:t>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114800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B2A38"/>
                </a:solidFill>
                <a:latin typeface="Aptos"/>
              </a:defRPr>
            </a:pPr>
            <a:r>
              <a:t>S7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2834640"/>
            <a:ext cx="658368" cy="1234440"/>
          </a:xfrm>
          <a:prstGeom prst="roundRect">
            <a:avLst/>
          </a:prstGeom>
          <a:solidFill>
            <a:srgbClr val="5C6F7E"/>
          </a:solidFill>
          <a:ln>
            <a:solidFill>
              <a:srgbClr val="5C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20" y="2532888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B2A38"/>
                </a:solidFill>
                <a:latin typeface="Aptos"/>
              </a:defRPr>
            </a:pPr>
            <a:r>
              <a:t>S4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4114800"/>
            <a:ext cx="6583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1B2A38"/>
                </a:solidFill>
                <a:latin typeface="Aptos"/>
              </a:defRPr>
            </a:pPr>
            <a:r>
              <a:t>S8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3172968"/>
            <a:ext cx="566928" cy="566928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3328416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FAFCFE"/>
                </a:solidFill>
                <a:latin typeface="Aptos"/>
              </a:defRPr>
            </a:pPr>
            <a:r>
              <a:t>CS1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2512" y="3172968"/>
            <a:ext cx="566928" cy="566928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3328416"/>
            <a:ext cx="56692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FAFCFE"/>
                </a:solidFill>
                <a:latin typeface="Aptos"/>
              </a:defRPr>
            </a:pPr>
            <a:r>
              <a:t>CS2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2377440"/>
            <a:ext cx="5715000" cy="32004"/>
          </a:xfrm>
          <a:prstGeom prst="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0120" y="4462272"/>
            <a:ext cx="5715000" cy="32004"/>
          </a:xfrm>
          <a:prstGeom prst="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08760" y="1965960"/>
            <a:ext cx="32004" cy="3401568"/>
          </a:xfrm>
          <a:prstGeom prst="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1965960"/>
            <a:ext cx="32004" cy="3401568"/>
          </a:xfrm>
          <a:prstGeom prst="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52360" y="1161288"/>
            <a:ext cx="4133087" cy="1078992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52360" y="1161288"/>
            <a:ext cx="64008" cy="1078992"/>
          </a:xfrm>
          <a:prstGeom prst="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53528" y="1307592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1ABECD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0728" y="1307592"/>
            <a:ext cx="33101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Robot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2672" y="1783080"/>
            <a:ext cx="3730751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Differential drive · 0.26 m/s max · wheel radius 0.033 m · wheelbase 0.287 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52360" y="2423160"/>
            <a:ext cx="4133087" cy="1078992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52360" y="2423160"/>
            <a:ext cx="64008" cy="1078992"/>
          </a:xfrm>
          <a:prstGeom prst="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53528" y="2569464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139297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0728" y="2569464"/>
            <a:ext cx="33101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Task types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62672" y="3044952"/>
            <a:ext cx="3730751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Storage → workstation · workstation → storage · workstation → workstation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52360" y="3685032"/>
            <a:ext cx="4133087" cy="1078992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52360" y="3685032"/>
            <a:ext cx="64008" cy="1078992"/>
          </a:xfrm>
          <a:prstGeom prst="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53528" y="3831336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F49A37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10728" y="3831336"/>
            <a:ext cx="33101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Energy model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62672" y="4306824"/>
            <a:ext cx="3730751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25% low-battery trigger · 15% task-abort threshold · charge to 95%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52360" y="4946904"/>
            <a:ext cx="4133087" cy="1078992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52360" y="4946904"/>
            <a:ext cx="64008" cy="1078992"/>
          </a:xfrm>
          <a:prstGeom prst="rect">
            <a:avLst/>
          </a:prstGeom>
          <a:solidFill>
            <a:srgbClr val="144A6F"/>
          </a:solidFill>
          <a:ln>
            <a:solidFill>
              <a:srgbClr val="14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53528" y="5093208"/>
            <a:ext cx="4114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144A6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10728" y="5093208"/>
            <a:ext cx="331012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Demand model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62672" y="5568696"/>
            <a:ext cx="3730751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Valid pickup–delivery pairs generated by an exponential inter-arrival process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5C6F7E"/>
                </a:solidFill>
                <a:latin typeface="Aptos"/>
              </a:defRPr>
            </a:pPr>
            <a:r>
              <a:t>Wenbin Lin  ·  MSc Robotics  ·  Heriot-Watt University Dubai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ABE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FAFCFE"/>
                </a:solidFill>
                <a:latin typeface="Aptos"/>
              </a:defRPr>
            </a:pPr>
            <a:r>
              <a:t>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>
                <a:solidFill>
                  <a:srgbClr val="E0EEF4"/>
                </a:solidFill>
                <a:latin typeface="Aptos"/>
              </a:defRPr>
            </a:pPr>
            <a:r>
              <a:t>A CLOSED LOOP FROM DEMAND TO PHYSICAL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41248"/>
            <a:ext cx="11109960" cy="22860"/>
          </a:xfrm>
          <a:prstGeom prst="rect">
            <a:avLst/>
          </a:prstGeom>
          <a:solidFill>
            <a:srgbClr val="1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673352" cy="2331720"/>
          </a:xfrm>
          <a:prstGeom prst="roundRect">
            <a:avLst/>
          </a:prstGeom>
          <a:solidFill>
            <a:srgbClr val="144A6F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21408"/>
            <a:ext cx="139903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FAFCFE"/>
                </a:solidFill>
                <a:latin typeface="Aptos"/>
              </a:defRPr>
            </a:pPr>
            <a:r>
              <a:t>Task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80360"/>
            <a:ext cx="14173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Poisson task generator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Pending task queue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9152" y="2971800"/>
            <a:ext cx="557784" cy="0"/>
          </a:xfrm>
          <a:prstGeom prst="line">
            <a:avLst/>
          </a:prstGeom>
          <a:ln w="25400">
            <a:solidFill>
              <a:srgbClr val="1A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1828800"/>
            <a:ext cx="1673352" cy="2331720"/>
          </a:xfrm>
          <a:prstGeom prst="roundRect">
            <a:avLst/>
          </a:prstGeom>
          <a:solidFill>
            <a:srgbClr val="144A6F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121408"/>
            <a:ext cx="139903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FAFCFE"/>
                </a:solidFill>
                <a:latin typeface="Aptos"/>
              </a:defRPr>
            </a:pPr>
            <a:r>
              <a:t>Decision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2880360"/>
            <a:ext cx="14173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Scheduler registry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Feasibility validation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72584" y="2971800"/>
            <a:ext cx="557784" cy="0"/>
          </a:xfrm>
          <a:prstGeom prst="line">
            <a:avLst/>
          </a:prstGeom>
          <a:ln w="25400">
            <a:solidFill>
              <a:srgbClr val="139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85232" y="1828800"/>
            <a:ext cx="1673352" cy="2331720"/>
          </a:xfrm>
          <a:prstGeom prst="roundRect">
            <a:avLst/>
          </a:prstGeom>
          <a:solidFill>
            <a:srgbClr val="144A6F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2121408"/>
            <a:ext cx="139903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FAFCFE"/>
                </a:solidFill>
                <a:latin typeface="Aptos"/>
              </a:defRPr>
            </a:pPr>
            <a:r>
              <a:t>Coordination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880360"/>
            <a:ext cx="14173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Grid A* + reservations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Conflict prediction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86016" y="2971800"/>
            <a:ext cx="557784" cy="0"/>
          </a:xfrm>
          <a:prstGeom prst="line">
            <a:avLst/>
          </a:prstGeom>
          <a:ln w="25400">
            <a:solidFill>
              <a:srgbClr val="F4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98664" y="1828800"/>
            <a:ext cx="1673352" cy="2331720"/>
          </a:xfrm>
          <a:prstGeom prst="roundRect">
            <a:avLst/>
          </a:prstGeom>
          <a:solidFill>
            <a:srgbClr val="144A6F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35824" y="2121408"/>
            <a:ext cx="139903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FAFCFE"/>
                </a:solidFill>
                <a:latin typeface="Aptos"/>
              </a:defRPr>
            </a:pPr>
            <a:r>
              <a:t>Execution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2880360"/>
            <a:ext cx="14173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Waypoint controller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LiDAR + DWA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99448" y="2971800"/>
            <a:ext cx="557784" cy="0"/>
          </a:xfrm>
          <a:prstGeom prst="line">
            <a:avLst/>
          </a:prstGeom>
          <a:ln w="25400">
            <a:solidFill>
              <a:srgbClr val="1A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912096" y="1828800"/>
            <a:ext cx="1673352" cy="2331720"/>
          </a:xfrm>
          <a:prstGeom prst="roundRect">
            <a:avLst/>
          </a:prstGeom>
          <a:solidFill>
            <a:srgbClr val="144A6F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49256" y="2121408"/>
            <a:ext cx="139903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FAFCFE"/>
                </a:solidFill>
                <a:latin typeface="Aptos"/>
              </a:defRPr>
            </a:pPr>
            <a:r>
              <a:t>Feedback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0112" y="2880360"/>
            <a:ext cx="14173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Robot state + battery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Metrics + recovery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508760" y="4389120"/>
            <a:ext cx="9235440" cy="0"/>
          </a:xfrm>
          <a:prstGeom prst="line">
            <a:avLst/>
          </a:prstGeom>
          <a:ln w="27940">
            <a:solidFill>
              <a:srgbClr val="1A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86200" y="4590288"/>
            <a:ext cx="4434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ABECD"/>
                </a:solidFill>
                <a:latin typeface="Aptos"/>
              </a:defRPr>
            </a:pPr>
            <a:r>
              <a:t>continuous state feedback and replanning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330952"/>
            <a:ext cx="106527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FAFCFE"/>
                </a:solidFill>
                <a:latin typeface="Aptos"/>
              </a:defRPr>
            </a:pPr>
            <a:r>
              <a:t>Design principle: a scheduling decision is committed only after a feasible path exists and the navigation command is successfully dispatched.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E0EEF4"/>
                </a:solidFill>
                <a:latin typeface="Aptos"/>
              </a:defRPr>
            </a:pPr>
            <a:r>
              <a:t>Wenbin Lin  ·  MSc Robotics  ·  Heriot-Watt University Dubai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E0EEF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ABEC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B2A38"/>
                </a:solidFill>
                <a:latin typeface="Aptos"/>
              </a:defRPr>
            </a:pPr>
            <a:r>
              <a:t>Robot lifecycle and safety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CLASSICAL CONTROL PROTECTS LEARNING-BASED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41248"/>
            <a:ext cx="11109960" cy="22860"/>
          </a:xfrm>
          <a:prstGeom prst="rect">
            <a:avLst/>
          </a:prstGeom>
          <a:solidFill>
            <a:srgbClr val="1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25880"/>
            <a:ext cx="1691640" cy="685800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27048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IDLE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40864" y="1673352"/>
            <a:ext cx="475488" cy="0"/>
          </a:xfrm>
          <a:prstGeom prst="line">
            <a:avLst/>
          </a:prstGeom>
          <a:ln w="25400">
            <a:solidFill>
              <a:srgbClr val="5C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9504" y="1325880"/>
            <a:ext cx="1691640" cy="685800"/>
          </a:xfrm>
          <a:prstGeom prst="roundRect">
            <a:avLst/>
          </a:prstGeom>
          <a:solidFill>
            <a:srgbClr val="144A6F"/>
          </a:solidFill>
          <a:ln>
            <a:solidFill>
              <a:srgbClr val="14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527048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PICKUP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08576" y="1673352"/>
            <a:ext cx="475488" cy="0"/>
          </a:xfrm>
          <a:prstGeom prst="line">
            <a:avLst/>
          </a:prstGeom>
          <a:ln w="25400">
            <a:solidFill>
              <a:srgbClr val="5C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57216" y="1325880"/>
            <a:ext cx="1691640" cy="685800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7216" y="1527048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CARRYING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76288" y="1673352"/>
            <a:ext cx="475487" cy="0"/>
          </a:xfrm>
          <a:prstGeom prst="line">
            <a:avLst/>
          </a:prstGeom>
          <a:ln w="25400">
            <a:solidFill>
              <a:srgbClr val="5C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24927" y="1325880"/>
            <a:ext cx="1691640" cy="685800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1527048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DELIVERY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0" y="1673352"/>
            <a:ext cx="475488" cy="0"/>
          </a:xfrm>
          <a:prstGeom prst="line">
            <a:avLst/>
          </a:prstGeom>
          <a:ln w="25400">
            <a:solidFill>
              <a:srgbClr val="5C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92640" y="1325880"/>
            <a:ext cx="1691640" cy="685800"/>
          </a:xfrm>
          <a:prstGeom prst="roundRect">
            <a:avLst/>
          </a:prstGeom>
          <a:solidFill>
            <a:srgbClr val="5C6F7E"/>
          </a:solidFill>
          <a:ln>
            <a:solidFill>
              <a:srgbClr val="5C6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527048"/>
            <a:ext cx="1691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26771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F49A37"/>
                </a:solidFill>
                <a:latin typeface="Aptos"/>
              </a:defRPr>
            </a:pPr>
            <a:r>
              <a:t>LOW BATTERY BRANCH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2651760"/>
            <a:ext cx="1664208" cy="594360"/>
          </a:xfrm>
          <a:prstGeom prst="roundRect">
            <a:avLst/>
          </a:prstGeom>
          <a:solidFill>
            <a:srgbClr val="E0EEF4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2825496"/>
            <a:ext cx="16642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1B2A38"/>
                </a:solidFill>
                <a:latin typeface="Aptos"/>
              </a:defRPr>
            </a:pPr>
            <a:r>
              <a:t>RETURN TO CS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95728" y="2953512"/>
            <a:ext cx="457200" cy="0"/>
          </a:xfrm>
          <a:prstGeom prst="line">
            <a:avLst/>
          </a:prstGeom>
          <a:ln w="25400">
            <a:solidFill>
              <a:srgbClr val="F4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926080" y="2651760"/>
            <a:ext cx="1664208" cy="594360"/>
          </a:xfrm>
          <a:prstGeom prst="roundRect">
            <a:avLst/>
          </a:prstGeom>
          <a:solidFill>
            <a:srgbClr val="E0EEF4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2825496"/>
            <a:ext cx="16642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1B2A38"/>
                </a:solidFill>
                <a:latin typeface="Aptos"/>
              </a:defRPr>
            </a:pPr>
            <a:r>
              <a:t>CHARGING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08576" y="2953512"/>
            <a:ext cx="457200" cy="0"/>
          </a:xfrm>
          <a:prstGeom prst="line">
            <a:avLst/>
          </a:prstGeom>
          <a:ln w="25400">
            <a:solidFill>
              <a:srgbClr val="F49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38928" y="2651760"/>
            <a:ext cx="1664208" cy="594360"/>
          </a:xfrm>
          <a:prstGeom prst="roundRect">
            <a:avLst/>
          </a:prstGeom>
          <a:solidFill>
            <a:srgbClr val="E0EEF4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38928" y="2825496"/>
            <a:ext cx="166420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1B2A38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950208"/>
            <a:ext cx="2514600" cy="1572768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59" y="4160520"/>
            <a:ext cx="457200" cy="457200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25196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8176" y="4123944"/>
            <a:ext cx="1481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8176" y="4636008"/>
            <a:ext cx="14813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5C6F7E"/>
                </a:solidFill>
                <a:latin typeface="Aptos"/>
              </a:defRPr>
            </a:pPr>
            <a:r>
              <a:t>10 s trajectory scan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11296" y="3950208"/>
            <a:ext cx="2514600" cy="1572768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75887" y="4160520"/>
            <a:ext cx="457200" cy="457200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75887" y="425196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1104" y="4123944"/>
            <a:ext cx="1481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Avoid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61104" y="4636008"/>
            <a:ext cx="14813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5C6F7E"/>
                </a:solidFill>
                <a:latin typeface="Aptos"/>
              </a:defRPr>
            </a:pPr>
            <a:r>
              <a:t>Peer braking + LiDAR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64224" y="3950208"/>
            <a:ext cx="2514600" cy="1572768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28816" y="4160520"/>
            <a:ext cx="457200" cy="457200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25196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2" y="4123944"/>
            <a:ext cx="1481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Replan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4032" y="4636008"/>
            <a:ext cx="14813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5C6F7E"/>
                </a:solidFill>
                <a:latin typeface="Aptos"/>
              </a:defRPr>
            </a:pPr>
            <a:r>
              <a:t>No-progress monitor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17152" y="3950208"/>
            <a:ext cx="2514600" cy="1572768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381744" y="4160520"/>
            <a:ext cx="457200" cy="457200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81744" y="4251960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4123944"/>
            <a:ext cx="14813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Recover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4636008"/>
            <a:ext cx="14813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5C6F7E"/>
                </a:solidFill>
                <a:latin typeface="Aptos"/>
              </a:defRPr>
            </a:pPr>
            <a:r>
              <a:t>Safe relocation after 5 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5C6F7E"/>
                </a:solidFill>
                <a:latin typeface="Aptos"/>
              </a:defRPr>
            </a:pPr>
            <a:r>
              <a:t>Wenbin Lin  ·  MSc Robotics  ·  Heriot-Watt University Dubai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ABEC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B2A38"/>
                </a:solidFill>
                <a:latin typeface="Aptos"/>
              </a:defRPr>
            </a:pPr>
            <a:r>
              <a:t>Scheduling algorithms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FROM TRANSPARENT BASELINES TO ADAPTIVE POLICIES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41248"/>
            <a:ext cx="11109960" cy="22860"/>
          </a:xfrm>
          <a:prstGeom prst="rect">
            <a:avLst/>
          </a:prstGeom>
          <a:solidFill>
            <a:srgbClr val="1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61872"/>
            <a:ext cx="2496312" cy="3529584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61872"/>
            <a:ext cx="2496312" cy="621792"/>
          </a:xfrm>
          <a:prstGeom prst="roundRect">
            <a:avLst/>
          </a:prstGeom>
          <a:solidFill>
            <a:srgbClr val="144A6F"/>
          </a:solidFill>
          <a:ln>
            <a:solidFill>
              <a:srgbClr val="14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44752"/>
            <a:ext cx="22219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FAFCFE"/>
                </a:solidFill>
                <a:latin typeface="Aptos"/>
              </a:defRPr>
            </a:pPr>
            <a:r>
              <a:t>Rule-based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1965960" cy="1572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FCFS</a:t>
            </a:r>
          </a:p>
          <a:p>
            <a:pPr algn="ctr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Round Robin</a:t>
            </a:r>
          </a:p>
          <a:p>
            <a:pPr algn="ctr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Random</a:t>
            </a:r>
          </a:p>
          <a:p>
            <a:pPr algn="ctr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Nearest Neighbour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133087"/>
            <a:ext cx="1490472" cy="384048"/>
          </a:xfrm>
          <a:prstGeom prst="roundRect">
            <a:avLst/>
          </a:prstGeom>
          <a:solidFill>
            <a:srgbClr val="EDF4F8"/>
          </a:solidFill>
          <a:ln>
            <a:solidFill>
              <a:srgbClr val="14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224528"/>
            <a:ext cx="1490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144A6F"/>
                </a:solidFill>
                <a:latin typeface="Aptos"/>
              </a:defRPr>
            </a:pPr>
            <a:r>
              <a:t>Fast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261872"/>
            <a:ext cx="2496312" cy="3529584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93008" y="1261872"/>
            <a:ext cx="2496312" cy="621792"/>
          </a:xfrm>
          <a:prstGeom prst="round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444752"/>
            <a:ext cx="22219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FAFCFE"/>
                </a:solidFill>
                <a:latin typeface="Aptos"/>
              </a:defRPr>
            </a:pPr>
            <a:r>
              <a:t>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176272"/>
            <a:ext cx="1965960" cy="1572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Greedy</a:t>
            </a:r>
          </a:p>
          <a:p>
            <a:pPr algn="ctr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Hungarian</a:t>
            </a:r>
          </a:p>
          <a:p>
            <a:pPr algn="ctr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Auction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95928" y="4133087"/>
            <a:ext cx="1490472" cy="384048"/>
          </a:xfrm>
          <a:prstGeom prst="roundRect">
            <a:avLst/>
          </a:prstGeom>
          <a:solidFill>
            <a:srgbClr val="EDF4F8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95928" y="4224528"/>
            <a:ext cx="1490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139297"/>
                </a:solidFill>
                <a:latin typeface="Aptos"/>
              </a:defRPr>
            </a:pPr>
            <a:r>
              <a:t>Deterministic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1261872"/>
            <a:ext cx="2496312" cy="3529584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45936" y="1261872"/>
            <a:ext cx="2496312" cy="621792"/>
          </a:xfrm>
          <a:prstGeom prst="round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1444752"/>
            <a:ext cx="22219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FAFCFE"/>
                </a:solidFill>
                <a:latin typeface="Aptos"/>
              </a:defRPr>
            </a:pPr>
            <a:r>
              <a:t>Metaheuristic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176272"/>
            <a:ext cx="1965960" cy="1572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Genetic Algorithm</a:t>
            </a:r>
          </a:p>
          <a:p>
            <a:pPr algn="ctr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Simulated Annealing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8856" y="4133087"/>
            <a:ext cx="1490472" cy="384048"/>
          </a:xfrm>
          <a:prstGeom prst="roundRect">
            <a:avLst/>
          </a:prstGeom>
          <a:solidFill>
            <a:srgbClr val="EDF4F8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8856" y="4224528"/>
            <a:ext cx="1490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49A37"/>
                </a:solidFill>
                <a:latin typeface="Aptos"/>
              </a:defRPr>
            </a:pPr>
            <a:r>
              <a:t>Global 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3" y="1261872"/>
            <a:ext cx="2496312" cy="3529584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98863" y="1261872"/>
            <a:ext cx="2496312" cy="621792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36024" y="1444752"/>
            <a:ext cx="222199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FAFCFE"/>
                </a:solidFill>
                <a:latin typeface="Aptos"/>
              </a:defRPr>
            </a:pPr>
            <a:r>
              <a:t>Learning-based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2176272"/>
            <a:ext cx="1965960" cy="15727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PPO</a:t>
            </a:r>
          </a:p>
          <a:p>
            <a:pPr algn="ctr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DQN</a:t>
            </a:r>
          </a:p>
          <a:p>
            <a:pPr algn="ctr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SARSA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01784" y="4133087"/>
            <a:ext cx="1490472" cy="384048"/>
          </a:xfrm>
          <a:prstGeom prst="roundRect">
            <a:avLst/>
          </a:prstGeom>
          <a:solidFill>
            <a:srgbClr val="EDF4F8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01784" y="4224528"/>
            <a:ext cx="14904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1ABECD"/>
                </a:solidFill>
                <a:latin typeface="Aptos"/>
              </a:defRPr>
            </a:pPr>
            <a:r>
              <a:t>Adaptive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138928"/>
            <a:ext cx="10561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44A6F"/>
                </a:solidFill>
                <a:latin typeface="Aptos"/>
              </a:defRPr>
            </a:pPr>
            <a:r>
              <a:t>Current default usage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5532120"/>
            <a:ext cx="104698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B2A38"/>
                </a:solidFill>
                <a:latin typeface="Aptos"/>
              </a:defRPr>
            </a:pPr>
            <a:r>
              <a:t>Common runtime choice: FCFS / Hungarian-style safe fallback  ·  Research comparison: GA, SA, Auction and RL policies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5C6F7E"/>
                </a:solidFill>
                <a:latin typeface="Aptos"/>
              </a:defRPr>
            </a:pPr>
            <a:r>
              <a:t>Wenbin Lin  ·  MSc Robotics  ·  Heriot-Watt University Dubai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ABEC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FAFCFE"/>
                </a:solidFill>
                <a:latin typeface="Aptos"/>
              </a:defRPr>
            </a:pPr>
            <a:r>
              <a:t>Five reinforcement-learning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>
                <a:solidFill>
                  <a:srgbClr val="E0EEF4"/>
                </a:solidFill>
                <a:latin typeface="Aptos"/>
              </a:defRPr>
            </a:pPr>
            <a:r>
              <a:t>HOW LEARNING CAN SUPPORT ROBOT SCHEDULING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41248"/>
            <a:ext cx="11109960" cy="22860"/>
          </a:xfrm>
          <a:prstGeom prst="rect">
            <a:avLst/>
          </a:prstGeom>
          <a:solidFill>
            <a:srgbClr val="1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234440"/>
            <a:ext cx="3383280" cy="1719072"/>
          </a:xfrm>
          <a:prstGeom prst="roundRect">
            <a:avLst/>
          </a:prstGeom>
          <a:solidFill>
            <a:srgbClr val="144A6F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298094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ABECD"/>
                </a:solidFill>
                <a:latin typeface="Aptos"/>
              </a:defRPr>
            </a:pPr>
            <a:r>
              <a:t>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56232"/>
            <a:ext cx="298094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Stable policy-gradient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2980944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Large continuous state representations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234440"/>
            <a:ext cx="3383280" cy="1719072"/>
          </a:xfrm>
          <a:prstGeom prst="roundRect">
            <a:avLst/>
          </a:prstGeom>
          <a:solidFill>
            <a:srgbClr val="144A6F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417320"/>
            <a:ext cx="298094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ABECD"/>
                </a:solidFill>
                <a:latin typeface="Aptos"/>
              </a:defRPr>
            </a:pPr>
            <a:r>
              <a:t>DQN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1856232"/>
            <a:ext cx="298094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Value learning with replay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313432"/>
            <a:ext cx="2980944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Discrete robot–task assignment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34440"/>
            <a:ext cx="3383280" cy="1719072"/>
          </a:xfrm>
          <a:prstGeom prst="roundRect">
            <a:avLst/>
          </a:prstGeom>
          <a:solidFill>
            <a:srgbClr val="144A6F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417320"/>
            <a:ext cx="298094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ABECD"/>
                </a:solidFill>
                <a:latin typeface="Aptos"/>
              </a:defRPr>
            </a:pPr>
            <a:r>
              <a:t>SARSA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1856232"/>
            <a:ext cx="298094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On-policy temporal-difference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313432"/>
            <a:ext cx="2980944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Risk-aware learning under the behaviour 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83280"/>
            <a:ext cx="5230368" cy="1719072"/>
          </a:xfrm>
          <a:prstGeom prst="roundRect">
            <a:avLst/>
          </a:prstGeom>
          <a:solidFill>
            <a:srgbClr val="144A6F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4828031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F49A37"/>
                </a:solidFill>
                <a:latin typeface="Aptos"/>
              </a:defRPr>
            </a:pPr>
            <a:r>
              <a:t>A2C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69664"/>
            <a:ext cx="4828031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Actor–critic with low variance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62272"/>
            <a:ext cx="4828031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Fast online policy/value updates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3383280"/>
            <a:ext cx="5230368" cy="1719072"/>
          </a:xfrm>
          <a:prstGeom prst="roundRect">
            <a:avLst/>
          </a:prstGeom>
          <a:solidFill>
            <a:srgbClr val="144A6F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3566160"/>
            <a:ext cx="4828031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F49A37"/>
                </a:solidFill>
                <a:latin typeface="Aptos"/>
              </a:defRPr>
            </a:pPr>
            <a:r>
              <a:t>QMIX / MAPPO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4169664"/>
            <a:ext cx="4828031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Cooperative multi-agent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4462272"/>
            <a:ext cx="4828031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Decentralised robots with a shared objective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650992"/>
            <a:ext cx="10607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49A37"/>
                </a:solidFill>
                <a:latin typeface="Aptos"/>
              </a:defRPr>
            </a:pPr>
            <a:r>
              <a:t>Implemented in this project: PPO, DQN and SARSA  ·  A2C and cooperative MARL are proposed extensions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E0EEF4"/>
                </a:solidFill>
                <a:latin typeface="Aptos"/>
              </a:defRPr>
            </a:pPr>
            <a:r>
              <a:t>Wenbin Lin  ·  MSc Robotics  ·  Heriot-Watt University Dubai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E0EEF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ABEC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B2A38"/>
                </a:solidFill>
                <a:latin typeface="Aptos"/>
              </a:defRPr>
            </a:pPr>
            <a:r>
              <a:t>Reinforcement-learning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STATE → ACTION → SAFE EXECUTION → 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41248"/>
            <a:ext cx="11109960" cy="22860"/>
          </a:xfrm>
          <a:prstGeom prst="rect">
            <a:avLst/>
          </a:prstGeom>
          <a:solidFill>
            <a:srgbClr val="1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389888" cy="2148840"/>
          </a:xfrm>
          <a:prstGeom prst="roundRect">
            <a:avLst/>
          </a:prstGeom>
          <a:solidFill>
            <a:srgbClr val="FAFCFE"/>
          </a:solidFill>
          <a:ln>
            <a:solidFill>
              <a:srgbClr val="14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691640"/>
            <a:ext cx="11704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44A6F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31720"/>
            <a:ext cx="120700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950" b="0">
                <a:solidFill>
                  <a:srgbClr val="1B2A38"/>
                </a:solidFill>
                <a:latin typeface="Aptos"/>
              </a:defRPr>
            </a:pPr>
            <a:r>
              <a:t>robot positions</a:t>
            </a:r>
          </a:p>
          <a:p>
            <a:pPr algn="ctr">
              <a:spcAft>
                <a:spcPts val="300"/>
              </a:spcAft>
              <a:defRPr sz="950" b="0">
                <a:solidFill>
                  <a:srgbClr val="1B2A38"/>
                </a:solidFill>
                <a:latin typeface="Aptos"/>
              </a:defRPr>
            </a:pPr>
            <a:r>
              <a:t>battery · task queue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75688" y="2487168"/>
            <a:ext cx="886968" cy="0"/>
          </a:xfrm>
          <a:prstGeom prst="line">
            <a:avLst/>
          </a:prstGeom>
          <a:ln w="25400">
            <a:solidFill>
              <a:srgbClr val="5C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35808" y="1417320"/>
            <a:ext cx="1389888" cy="2148840"/>
          </a:xfrm>
          <a:prstGeom prst="roundRect">
            <a:avLst/>
          </a:prstGeom>
          <a:solidFill>
            <a:srgbClr val="FAFCFE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1691640"/>
            <a:ext cx="11704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39297"/>
                </a:solidFill>
                <a:latin typeface="Aptos"/>
              </a:defRPr>
            </a:pPr>
            <a:r>
              <a:t>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331720"/>
            <a:ext cx="120700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950" b="0">
                <a:solidFill>
                  <a:srgbClr val="1B2A38"/>
                </a:solidFill>
                <a:latin typeface="Aptos"/>
              </a:defRPr>
            </a:pPr>
            <a:r>
              <a:t>PPO / DQN / SARSA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53128" y="2487168"/>
            <a:ext cx="886968" cy="0"/>
          </a:xfrm>
          <a:prstGeom prst="line">
            <a:avLst/>
          </a:prstGeom>
          <a:ln w="25400">
            <a:solidFill>
              <a:srgbClr val="5C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13248" y="1417320"/>
            <a:ext cx="1389888" cy="2148840"/>
          </a:xfrm>
          <a:prstGeom prst="roundRect">
            <a:avLst/>
          </a:prstGeom>
          <a:solidFill>
            <a:srgbClr val="FAFCFE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2976" y="1691640"/>
            <a:ext cx="11704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49A37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2331720"/>
            <a:ext cx="120700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950" b="0">
                <a:solidFill>
                  <a:srgbClr val="1B2A38"/>
                </a:solidFill>
                <a:latin typeface="Aptos"/>
              </a:defRPr>
            </a:pPr>
            <a:r>
              <a:t>select robot–task pair</a:t>
            </a:r>
          </a:p>
          <a:p>
            <a:pPr algn="ctr">
              <a:spcAft>
                <a:spcPts val="300"/>
              </a:spcAft>
              <a:defRPr sz="950" b="0">
                <a:solidFill>
                  <a:srgbClr val="1B2A38"/>
                </a:solidFill>
                <a:latin typeface="Aptos"/>
              </a:defRPr>
            </a:pPr>
            <a:r>
              <a:t>or no-op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30568" y="2487168"/>
            <a:ext cx="886968" cy="0"/>
          </a:xfrm>
          <a:prstGeom prst="line">
            <a:avLst/>
          </a:prstGeom>
          <a:ln w="25400">
            <a:solidFill>
              <a:srgbClr val="5C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90688" y="1417320"/>
            <a:ext cx="1389888" cy="2148840"/>
          </a:xfrm>
          <a:prstGeom prst="roundRect">
            <a:avLst/>
          </a:prstGeom>
          <a:solidFill>
            <a:srgbClr val="FAFCFE"/>
          </a:solidFill>
          <a:ln>
            <a:solidFill>
              <a:srgbClr val="14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5" y="1691640"/>
            <a:ext cx="11704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44A6F"/>
                </a:solidFill>
                <a:latin typeface="Aptos"/>
              </a:defRPr>
            </a:pPr>
            <a:r>
              <a:t>SAFETY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2331720"/>
            <a:ext cx="120700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950" b="0">
                <a:solidFill>
                  <a:srgbClr val="1B2A38"/>
                </a:solidFill>
                <a:latin typeface="Aptos"/>
              </a:defRPr>
            </a:pPr>
            <a:r>
              <a:t>feasibility + path check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08008" y="2487168"/>
            <a:ext cx="886968" cy="0"/>
          </a:xfrm>
          <a:prstGeom prst="line">
            <a:avLst/>
          </a:prstGeom>
          <a:ln w="25400">
            <a:solidFill>
              <a:srgbClr val="5C6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68128" y="1417320"/>
            <a:ext cx="1389888" cy="2148840"/>
          </a:xfrm>
          <a:prstGeom prst="roundRect">
            <a:avLst/>
          </a:prstGeom>
          <a:solidFill>
            <a:srgbClr val="FAFCFE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77855" y="1691640"/>
            <a:ext cx="11704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39297"/>
                </a:solidFill>
                <a:latin typeface="Aptos"/>
              </a:defRPr>
            </a:pPr>
            <a:r>
              <a:t>REWARD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59567" y="2331720"/>
            <a:ext cx="1207008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950" b="0">
                <a:solidFill>
                  <a:srgbClr val="1B2A38"/>
                </a:solidFill>
                <a:latin typeface="Aptos"/>
              </a:defRPr>
            </a:pPr>
            <a:r>
              <a:t>+ completion</a:t>
            </a:r>
          </a:p>
          <a:p>
            <a:pPr algn="ctr">
              <a:spcAft>
                <a:spcPts val="300"/>
              </a:spcAft>
              <a:defRPr sz="950" b="0">
                <a:solidFill>
                  <a:srgbClr val="1B2A38"/>
                </a:solidFill>
                <a:latin typeface="Aptos"/>
              </a:defRPr>
            </a:pPr>
            <a:r>
              <a:t>− wait / distance / collision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353312" y="3886200"/>
            <a:ext cx="9482328" cy="0"/>
          </a:xfrm>
          <a:prstGeom prst="line">
            <a:avLst/>
          </a:prstGeom>
          <a:ln w="27940">
            <a:solidFill>
              <a:srgbClr val="1A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86200" y="4087368"/>
            <a:ext cx="44348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1ABECD"/>
                </a:solidFill>
                <a:latin typeface="Aptos"/>
              </a:defRPr>
            </a:pPr>
            <a:r>
              <a:t>next state and long-term return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645152"/>
            <a:ext cx="3429000" cy="1078992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4645152"/>
            <a:ext cx="64008" cy="1078992"/>
          </a:xfrm>
          <a:prstGeom prst="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791456"/>
            <a:ext cx="305409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Why learning helps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266944"/>
            <a:ext cx="302666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Optimises delayed effects: queue growth, future travel and resource contention.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645152"/>
            <a:ext cx="3429000" cy="1078992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4645152"/>
            <a:ext cx="64008" cy="1078992"/>
          </a:xfrm>
          <a:prstGeom prst="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4791456"/>
            <a:ext cx="3054095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Why classical control remains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2" y="5266944"/>
            <a:ext cx="302666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Guarantees executable paths and reacts to centimetre-scale hazards.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1" y="4645152"/>
            <a:ext cx="3429000" cy="1078992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28431" y="4645152"/>
            <a:ext cx="64008" cy="1078992"/>
          </a:xfrm>
          <a:prstGeom prst="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8744" y="4791456"/>
            <a:ext cx="3054095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Hybrid principle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8744" y="5266944"/>
            <a:ext cx="302666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Learning proposes; validation and motion coordination enforce safety.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5C6F7E"/>
                </a:solidFill>
                <a:latin typeface="Aptos"/>
              </a:defRPr>
            </a:pPr>
            <a:r>
              <a:t>Wenbin Lin  ·  MSc Robotics  ·  Heriot-Watt University Dubai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ABEC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B2A38"/>
                </a:solidFill>
                <a:latin typeface="Aptos"/>
              </a:defRPr>
            </a:pPr>
            <a:r>
              <a:t>Evaluation design and evidence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WHAT IS MEASURED — AND WHAT REMAINS TO BE TESTED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41248"/>
            <a:ext cx="11109960" cy="22860"/>
          </a:xfrm>
          <a:prstGeom prst="rect">
            <a:avLst/>
          </a:prstGeom>
          <a:solidFill>
            <a:srgbClr val="1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34440"/>
            <a:ext cx="3502152" cy="1920240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234440"/>
            <a:ext cx="64008" cy="1920240"/>
          </a:xfrm>
          <a:prstGeom prst="rect">
            <a:avLst/>
          </a:prstGeom>
          <a:solidFill>
            <a:srgbClr val="144A6F"/>
          </a:solidFill>
          <a:ln>
            <a:solidFill>
              <a:srgbClr val="144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80744"/>
            <a:ext cx="31272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Inputs held constant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99816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Same factory layout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Same robot dynamics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Same task-generation model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Same coordination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234440"/>
            <a:ext cx="3502152" cy="1920240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2544" y="1234440"/>
            <a:ext cx="64008" cy="1920240"/>
          </a:xfrm>
          <a:prstGeom prst="rect">
            <a:avLst/>
          </a:prstGeom>
          <a:solidFill>
            <a:srgbClr val="139297"/>
          </a:solidFill>
          <a:ln>
            <a:solidFill>
              <a:srgbClr val="139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380744"/>
            <a:ext cx="312724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Primary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1856232"/>
            <a:ext cx="3099816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Throughput · completion rate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Waiting / completion time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P95 scheduling latency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Workload CV · safety distance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34440"/>
            <a:ext cx="3502152" cy="1920240"/>
          </a:xfrm>
          <a:prstGeom prst="roundRect">
            <a:avLst/>
          </a:prstGeom>
          <a:solidFill>
            <a:srgbClr val="FAFCFE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64008" cy="1920240"/>
          </a:xfrm>
          <a:prstGeom prst="rect">
            <a:avLst/>
          </a:prstGeom>
          <a:solidFill>
            <a:srgbClr val="F49A37"/>
          </a:solidFill>
          <a:ln>
            <a:solidFill>
              <a:srgbClr val="F49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380744"/>
            <a:ext cx="312724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Experimental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1856232"/>
            <a:ext cx="3099816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30-minute simulation horizon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Fixed scenario definitions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Recorded JSON outputs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5C6F7E"/>
                </a:solidFill>
                <a:latin typeface="Aptos"/>
              </a:defRPr>
            </a:pPr>
            <a:r>
              <a:t>Multi-seed repetition planned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10744200" cy="1664208"/>
          </a:xfrm>
          <a:prstGeom prst="roundRect">
            <a:avLst/>
          </a:prstGeom>
          <a:solidFill>
            <a:srgbClr val="EDF4F8"/>
          </a:solidFill>
          <a:ln>
            <a:solidFill>
              <a:srgbClr val="E0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67912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44A6F"/>
                </a:solidFill>
                <a:latin typeface="Aptos"/>
              </a:defRPr>
            </a:pPr>
            <a:r>
              <a:t>CURRENT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43400"/>
            <a:ext cx="4434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Scenario A contains nine baseline runs plus one preliminary PPO_RL deployment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867912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F49A37"/>
                </a:solidFill>
                <a:latin typeface="Aptos"/>
              </a:defRPr>
            </a:pPr>
            <a:r>
              <a:t>OPEN EVIDENCE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343400"/>
            <a:ext cx="50292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B2A38"/>
                </a:solidFill>
                <a:latin typeface="Aptos"/>
              </a:defRPr>
            </a:pPr>
            <a:r>
              <a:t>Matched multi-seed RL evaluation across Webots A/B/C is not yet complete.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5669280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CD4E49"/>
                </a:solidFill>
                <a:latin typeface="Aptos"/>
              </a:defRPr>
            </a:pPr>
            <a:r>
              <a:t>Therefore, measured claims and expected RL benefits are reported separately.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5C6F7E"/>
                </a:solidFill>
                <a:latin typeface="Aptos"/>
              </a:defRPr>
            </a:pPr>
            <a:r>
              <a:t>Wenbin Lin  ·  MSc Robotics  ·  Heriot-Watt University Dubai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ABEC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B2A38"/>
                </a:solidFill>
                <a:latin typeface="Aptos"/>
              </a:defRPr>
            </a:pPr>
            <a:r>
              <a:t>Measured scheduling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SCENARIO A — NINE BASELINES PLUS PPO_RL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41248"/>
            <a:ext cx="11109960" cy="22860"/>
          </a:xfrm>
          <a:prstGeom prst="rect">
            <a:avLst/>
          </a:prstGeom>
          <a:solidFill>
            <a:srgbClr val="1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11018520" cy="42245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422392"/>
            <a:ext cx="3337560" cy="621792"/>
          </a:xfrm>
          <a:prstGeom prst="roundRect">
            <a:avLst/>
          </a:prstGeom>
          <a:solidFill>
            <a:srgbClr val="08182B"/>
          </a:solidFill>
          <a:ln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568696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AFCFE"/>
                </a:solidFill>
                <a:latin typeface="Aptos"/>
              </a:defRPr>
            </a:pPr>
            <a:r>
              <a:t>Highest recorded: SA  ·  1.07 tasks/min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5468112"/>
            <a:ext cx="67208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100" b="0">
                <a:solidFill>
                  <a:srgbClr val="5C6F7E"/>
                </a:solidFill>
                <a:latin typeface="Aptos"/>
              </a:defRPr>
            </a:pPr>
            <a:r>
              <a:t>Interpretation is preliminary: each bar is one recorded 30-minute run, not yet a balanced multi-seed confidence interval.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5C6F7E"/>
                </a:solidFill>
                <a:latin typeface="Aptos"/>
              </a:defRPr>
            </a:pPr>
            <a:r>
              <a:t>Wenbin Lin  ·  MSc Robotics  ·  Heriot-Watt University Dubai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ABEC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B2A38"/>
                </a:solidFill>
                <a:latin typeface="Aptos"/>
              </a:defRPr>
            </a:pPr>
            <a:r>
              <a:t>Efficiency is not a single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LATENCY, THROUGHPUT, FAIRNESS AND SAFETY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41248"/>
            <a:ext cx="11109960" cy="22860"/>
          </a:xfrm>
          <a:prstGeom prst="rect">
            <a:avLst/>
          </a:prstGeom>
          <a:solidFill>
            <a:srgbClr val="1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097280"/>
            <a:ext cx="1097280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376672"/>
            <a:ext cx="29260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CD4E49"/>
                </a:solidFill>
                <a:latin typeface="Aptos"/>
              </a:defRPr>
            </a:pPr>
            <a:r>
              <a:t>Observed pair-distance violations: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376672"/>
            <a:ext cx="7406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B2A38"/>
                </a:solidFill>
                <a:latin typeface="Aptos"/>
              </a:defRPr>
            </a:pPr>
            <a:r>
              <a:t>A production scheduler must deliver useful assignments within the controller budget and must not destabilise the shared motion layer.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5C6F7E"/>
                </a:solidFill>
                <a:latin typeface="Aptos"/>
              </a:defRPr>
            </a:pPr>
            <a:r>
              <a:t>Wenbin Lin  ·  MSc Robotics  ·  Heriot-Watt University Dubai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5C6F7E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ABEC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01168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FAFCFE"/>
                </a:solidFill>
                <a:latin typeface="Aptos"/>
              </a:defRPr>
            </a:pPr>
            <a:r>
              <a:t>Traditional scheduling vs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67512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800" b="1">
                <a:solidFill>
                  <a:srgbClr val="E0EEF4"/>
                </a:solidFill>
                <a:latin typeface="Aptos"/>
              </a:defRPr>
            </a:pPr>
            <a:r>
              <a:t>MEASURED TRAINING EVIDENCE AND EXPECTED SYSTEM-LEVEL ADVANTAGES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41248"/>
            <a:ext cx="11109960" cy="22860"/>
          </a:xfrm>
          <a:prstGeom prst="rect">
            <a:avLst/>
          </a:prstGeom>
          <a:solidFill>
            <a:srgbClr val="1A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987552"/>
            <a:ext cx="6720840" cy="4224528"/>
          </a:xfrm>
          <a:prstGeom prst="roundRect">
            <a:avLst/>
          </a:prstGeom>
          <a:solidFill>
            <a:srgbClr val="FAFCFE"/>
          </a:solidFill>
          <a:ln>
            <a:solidFill>
              <a:srgbClr val="FAF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629400" cy="4069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33488" y="1207008"/>
            <a:ext cx="4233672" cy="4370832"/>
          </a:xfrm>
          <a:prstGeom prst="roundRect">
            <a:avLst/>
          </a:prstGeom>
          <a:solidFill>
            <a:srgbClr val="144A6F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81328"/>
            <a:ext cx="3657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ABECD"/>
                </a:solidFill>
                <a:latin typeface="Aptos"/>
              </a:defRPr>
            </a:pPr>
            <a:r>
              <a:t>Potential RL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2944" y="2011680"/>
            <a:ext cx="3675887" cy="2377440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F49A37"/>
                </a:solidFill>
              </a:rPr>
              <a:t>●  Optimises long-term return rather than one-step distance.</a:t>
            </a:r>
          </a:p>
          <a:p>
            <a:pPr>
              <a:spcAft>
                <a:spcPts val="1100"/>
              </a:spcAft>
              <a:defRPr sz="12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F49A37"/>
                </a:solidFill>
              </a:rPr>
              <a:t>●  Can encode battery, queue pressure and future congestion.</a:t>
            </a:r>
          </a:p>
          <a:p>
            <a:pPr>
              <a:spcAft>
                <a:spcPts val="1100"/>
              </a:spcAft>
              <a:defRPr sz="12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F49A37"/>
                </a:solidFill>
              </a:rPr>
              <a:t>●  Inference is fast after offline training.</a:t>
            </a:r>
          </a:p>
          <a:p>
            <a:pPr>
              <a:spcAft>
                <a:spcPts val="1100"/>
              </a:spcAft>
              <a:defRPr sz="12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F49A37"/>
                </a:solidFill>
              </a:rPr>
              <a:t>●  Adapts policy behaviour across changing demand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71231" y="4462272"/>
            <a:ext cx="367588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F49A37"/>
                </a:solidFill>
                <a:latin typeface="Aptos"/>
              </a:defRPr>
            </a:pPr>
            <a:r>
              <a:t>Evidence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1" y="4800600"/>
            <a:ext cx="3675887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50" b="1">
                <a:solidFill>
                  <a:srgbClr val="E0EEF4"/>
                </a:solidFill>
                <a:latin typeface="Aptos"/>
              </a:defRPr>
            </a:pPr>
            <a:r>
              <a:t>Claims require matched multi-seed Webots A/B/C tests against the baselines.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60720"/>
            <a:ext cx="10607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250" b="1">
                <a:solidFill>
                  <a:srgbClr val="FAFCFE"/>
                </a:solidFill>
                <a:latin typeface="Aptos"/>
              </a:defRPr>
            </a:pPr>
            <a:r>
              <a:t>Research position: RL should improve assignment quality; classical coordination remains the safety envelope.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6583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E0EEF4"/>
                </a:solidFill>
                <a:latin typeface="Aptos"/>
              </a:defRPr>
            </a:pPr>
            <a:r>
              <a:t>Wenbin Lin  ·  MSc Robotics  ·  Heriot-Watt University Dubai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E0EEF4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art_factory_hero.png"/>
          <p:cNvPicPr>
            <a:picLocks noChangeAspect="1"/>
          </p:cNvPicPr>
          <p:nvPr/>
        </p:nvPicPr>
        <p:blipFill>
          <a:blip r:embed="rId2"/>
          <a:srcRect l="28951" r="28951"/>
          <a:stretch>
            <a:fillRect/>
          </a:stretch>
        </p:blipFill>
        <p:spPr>
          <a:xfrm>
            <a:off x="7059168" y="0"/>
            <a:ext cx="512978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8182B"/>
          </a:solidFill>
          <a:ln>
            <a:solidFill>
              <a:srgbClr val="08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5440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ABECD"/>
                </a:solidFill>
                <a:latin typeface="Aptos"/>
              </a:defRPr>
            </a:pPr>
            <a:r>
              <a:t>CONCLUSIONS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60704"/>
            <a:ext cx="56692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2600" b="1">
                <a:solidFill>
                  <a:srgbClr val="FAFCFE"/>
                </a:solidFill>
                <a:latin typeface="Aptos"/>
              </a:defRPr>
            </a:pPr>
            <a:r>
              <a:t>A hybrid learning-and-control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5715000" cy="3127248"/>
          </a:xfrm>
          <a:prstGeom prst="rect">
            <a:avLst/>
          </a:prstGeom>
          <a:noFill/>
        </p:spPr>
        <p:txBody>
          <a:bodyPr wrap="square" lIns="36576" rIns="18288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1ABECD"/>
                </a:solidFill>
              </a:rPr>
              <a:t>●  The project integrates dynamic scheduling with executable multi-robot motion coordination.</a:t>
            </a:r>
          </a:p>
          <a:p>
            <a:pPr>
              <a:spcAft>
                <a:spcPts val="1100"/>
              </a:spcAft>
              <a:defRPr sz="14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1ABECD"/>
                </a:solidFill>
              </a:rPr>
              <a:t>●  Traditional algorithms provide interpretable, measurable baselines and robust fallbacks.</a:t>
            </a:r>
          </a:p>
          <a:p>
            <a:pPr>
              <a:spcAft>
                <a:spcPts val="1100"/>
              </a:spcAft>
              <a:defRPr sz="14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1ABECD"/>
                </a:solidFill>
              </a:rPr>
              <a:t>●  PPO, DQN and SARSA establish the learning pipeline; matched Webots comparison is the next milestone.</a:t>
            </a:r>
          </a:p>
          <a:p>
            <a:pPr>
              <a:spcAft>
                <a:spcPts val="1100"/>
              </a:spcAft>
              <a:defRPr sz="1400">
                <a:solidFill>
                  <a:srgbClr val="FAFCFE"/>
                </a:solidFill>
                <a:latin typeface="Aptos"/>
              </a:defRPr>
            </a:pPr>
            <a:r>
              <a:rPr>
                <a:solidFill>
                  <a:srgbClr val="1ABECD"/>
                </a:solidFill>
              </a:rPr>
              <a:t>●  Future work: repeated A/B/C trials, confidence intervals, curriculum learning, MARL, ROS 2 / Gazebo portability and hardware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431536"/>
            <a:ext cx="5212080" cy="594360"/>
          </a:xfrm>
          <a:prstGeom prst="roundRect">
            <a:avLst/>
          </a:prstGeom>
          <a:solidFill>
            <a:srgbClr val="1ABECD"/>
          </a:solidFill>
          <a:ln>
            <a:solidFill>
              <a:srgbClr val="1A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5577840"/>
            <a:ext cx="4983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08182B"/>
                </a:solidFill>
                <a:latin typeface="Aptos"/>
              </a:defRPr>
            </a:pPr>
            <a:r>
              <a:t>Thank you  ·  Questions and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45352"/>
            <a:ext cx="5303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E0EEF4"/>
                </a:solidFill>
                <a:latin typeface="Aptos"/>
              </a:defRPr>
            </a:pPr>
            <a:r>
              <a:t>Wenbin Lin  ·  H00484764  ·  MSc Robotics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